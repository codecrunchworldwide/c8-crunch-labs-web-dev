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oboto"/>
      <p:regular r:id="rId43"/>
      <p:bold r:id="rId44"/>
      <p:italic r:id="rId45"/>
      <p:boldItalic r:id="rId46"/>
    </p:embeddedFont>
    <p:embeddedFont>
      <p:font typeface="Roboto Mon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1" roundtripDataSignature="AMtx7mjMIYHIlEskPy2aiHMw7867WtBO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d8342e4aa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g2d8342e4aa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9"/>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9"/>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9"/>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 name="Google Shape;14;p39"/>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5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3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0"/>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0"/>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0" name="Google Shape;20;p40"/>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1" name="Google Shape;21;p4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00000"/>
        </a:solidFill>
      </p:bgPr>
    </p:bg>
    <p:spTree>
      <p:nvGrpSpPr>
        <p:cNvPr id="22" name="Shape 22"/>
        <p:cNvGrpSpPr/>
        <p:nvPr/>
      </p:nvGrpSpPr>
      <p:grpSpPr>
        <a:xfrm>
          <a:off x="0" y="0"/>
          <a:ext cx="0" cy="0"/>
          <a:chOff x="0" y="0"/>
          <a:chExt cx="0" cy="0"/>
        </a:xfrm>
      </p:grpSpPr>
      <p:sp>
        <p:nvSpPr>
          <p:cNvPr id="23" name="Google Shape;23;p4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 name="Shape 24"/>
        <p:cNvGrpSpPr/>
        <p:nvPr/>
      </p:nvGrpSpPr>
      <p:grpSpPr>
        <a:xfrm>
          <a:off x="0" y="0"/>
          <a:ext cx="0" cy="0"/>
          <a:chOff x="0" y="0"/>
          <a:chExt cx="0" cy="0"/>
        </a:xfrm>
      </p:grpSpPr>
      <p:sp>
        <p:nvSpPr>
          <p:cNvPr id="25" name="Google Shape;25;p42"/>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26" name="Google Shape;26;p4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3"/>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9" name="Google Shape;29;p4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30" name="Shape 30"/>
        <p:cNvGrpSpPr/>
        <p:nvPr/>
      </p:nvGrpSpPr>
      <p:grpSpPr>
        <a:xfrm>
          <a:off x="0" y="0"/>
          <a:ext cx="0" cy="0"/>
          <a:chOff x="0" y="0"/>
          <a:chExt cx="0" cy="0"/>
        </a:xfrm>
      </p:grpSpPr>
      <p:sp>
        <p:nvSpPr>
          <p:cNvPr id="31" name="Google Shape;31;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2" name="Google Shape;32;p4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4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4" name="Google Shape;34;p4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5" name="Google Shape;35;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4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0" name="Google Shape;40;p45"/>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45"/>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2" name="Google Shape;42;p4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4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6"/>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7" name="Google Shape;47;p4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4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7"/>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2" name="Google Shape;52;p47"/>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0"/>
              </a:spcBef>
              <a:spcAft>
                <a:spcPts val="0"/>
              </a:spcAft>
              <a:buClr>
                <a:schemeClr val="lt1"/>
              </a:buClr>
              <a:buSzPts val="1200"/>
              <a:buChar char="○"/>
              <a:defRPr sz="1200">
                <a:solidFill>
                  <a:schemeClr val="lt1"/>
                </a:solidFill>
              </a:defRPr>
            </a:lvl2pPr>
            <a:lvl3pPr indent="-304800" lvl="2" marL="1371600" algn="l">
              <a:lnSpc>
                <a:spcPct val="115000"/>
              </a:lnSpc>
              <a:spcBef>
                <a:spcPts val="0"/>
              </a:spcBef>
              <a:spcAft>
                <a:spcPts val="0"/>
              </a:spcAft>
              <a:buClr>
                <a:schemeClr val="lt1"/>
              </a:buClr>
              <a:buSzPts val="1200"/>
              <a:buChar char="■"/>
              <a:defRPr sz="1200">
                <a:solidFill>
                  <a:schemeClr val="lt1"/>
                </a:solidFill>
              </a:defRPr>
            </a:lvl3pPr>
            <a:lvl4pPr indent="-304800" lvl="3" marL="1828800" algn="l">
              <a:lnSpc>
                <a:spcPct val="115000"/>
              </a:lnSpc>
              <a:spcBef>
                <a:spcPts val="0"/>
              </a:spcBef>
              <a:spcAft>
                <a:spcPts val="0"/>
              </a:spcAft>
              <a:buClr>
                <a:schemeClr val="lt1"/>
              </a:buClr>
              <a:buSzPts val="1200"/>
              <a:buChar char="●"/>
              <a:defRPr sz="1200">
                <a:solidFill>
                  <a:schemeClr val="lt1"/>
                </a:solidFill>
              </a:defRPr>
            </a:lvl4pPr>
            <a:lvl5pPr indent="-304800" lvl="4" marL="2286000" algn="l">
              <a:lnSpc>
                <a:spcPct val="115000"/>
              </a:lnSpc>
              <a:spcBef>
                <a:spcPts val="0"/>
              </a:spcBef>
              <a:spcAft>
                <a:spcPts val="0"/>
              </a:spcAft>
              <a:buClr>
                <a:schemeClr val="lt1"/>
              </a:buClr>
              <a:buSzPts val="1200"/>
              <a:buChar char="○"/>
              <a:defRPr sz="1200">
                <a:solidFill>
                  <a:schemeClr val="lt1"/>
                </a:solidFill>
              </a:defRPr>
            </a:lvl5pPr>
            <a:lvl6pPr indent="-304800" lvl="5" marL="2743200" algn="l">
              <a:lnSpc>
                <a:spcPct val="115000"/>
              </a:lnSpc>
              <a:spcBef>
                <a:spcPts val="0"/>
              </a:spcBef>
              <a:spcAft>
                <a:spcPts val="0"/>
              </a:spcAft>
              <a:buClr>
                <a:schemeClr val="lt1"/>
              </a:buClr>
              <a:buSzPts val="1200"/>
              <a:buChar char="■"/>
              <a:defRPr sz="1200">
                <a:solidFill>
                  <a:schemeClr val="lt1"/>
                </a:solidFill>
              </a:defRPr>
            </a:lvl6pPr>
            <a:lvl7pPr indent="-304800" lvl="6" marL="3200400" algn="l">
              <a:lnSpc>
                <a:spcPct val="115000"/>
              </a:lnSpc>
              <a:spcBef>
                <a:spcPts val="0"/>
              </a:spcBef>
              <a:spcAft>
                <a:spcPts val="0"/>
              </a:spcAft>
              <a:buClr>
                <a:schemeClr val="lt1"/>
              </a:buClr>
              <a:buSzPts val="1200"/>
              <a:buChar char="●"/>
              <a:defRPr sz="1200">
                <a:solidFill>
                  <a:schemeClr val="lt1"/>
                </a:solidFill>
              </a:defRPr>
            </a:lvl7pPr>
            <a:lvl8pPr indent="-304800" lvl="7" marL="3657600" algn="l">
              <a:lnSpc>
                <a:spcPct val="115000"/>
              </a:lnSpc>
              <a:spcBef>
                <a:spcPts val="0"/>
              </a:spcBef>
              <a:spcAft>
                <a:spcPts val="0"/>
              </a:spcAft>
              <a:buClr>
                <a:schemeClr val="lt1"/>
              </a:buClr>
              <a:buSzPts val="1200"/>
              <a:buChar char="○"/>
              <a:defRPr sz="1200">
                <a:solidFill>
                  <a:schemeClr val="lt1"/>
                </a:solidFill>
              </a:defRPr>
            </a:lvl8pPr>
            <a:lvl9pPr indent="-304800" lvl="8" marL="4114800" algn="l">
              <a:lnSpc>
                <a:spcPct val="115000"/>
              </a:lnSpc>
              <a:spcBef>
                <a:spcPts val="0"/>
              </a:spcBef>
              <a:spcAft>
                <a:spcPts val="0"/>
              </a:spcAft>
              <a:buClr>
                <a:schemeClr val="lt1"/>
              </a:buClr>
              <a:buSzPts val="1200"/>
              <a:buChar char="■"/>
              <a:defRPr sz="1200">
                <a:solidFill>
                  <a:schemeClr val="lt1"/>
                </a:solidFill>
              </a:defRPr>
            </a:lvl9pPr>
          </a:lstStyle>
          <a:p/>
        </p:txBody>
      </p:sp>
      <p:sp>
        <p:nvSpPr>
          <p:cNvPr id="53" name="Google Shape;53;p4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48"/>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58" name="Google Shape;58;p48"/>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 name="Google Shape;59;p4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23850" lvl="0" marL="457200" algn="l">
              <a:lnSpc>
                <a:spcPct val="115000"/>
              </a:lnSpc>
              <a:spcBef>
                <a:spcPts val="0"/>
              </a:spcBef>
              <a:spcAft>
                <a:spcPts val="0"/>
              </a:spcAft>
              <a:buClr>
                <a:schemeClr val="lt1"/>
              </a:buClr>
              <a:buSzPts val="1500"/>
              <a:buChar char="●"/>
              <a:defRPr>
                <a:solidFill>
                  <a:schemeClr val="lt1"/>
                </a:solidFill>
              </a:defRPr>
            </a:lvl1pPr>
            <a:lvl2pPr indent="-323850" lvl="1" marL="914400" algn="l">
              <a:lnSpc>
                <a:spcPct val="115000"/>
              </a:lnSpc>
              <a:spcBef>
                <a:spcPts val="0"/>
              </a:spcBef>
              <a:spcAft>
                <a:spcPts val="0"/>
              </a:spcAft>
              <a:buClr>
                <a:schemeClr val="lt1"/>
              </a:buClr>
              <a:buSzPts val="1500"/>
              <a:buChar char="○"/>
              <a:defRPr>
                <a:solidFill>
                  <a:schemeClr val="lt1"/>
                </a:solidFill>
              </a:defRPr>
            </a:lvl2pPr>
            <a:lvl3pPr indent="-323850" lvl="2" marL="1371600" algn="l">
              <a:lnSpc>
                <a:spcPct val="115000"/>
              </a:lnSpc>
              <a:spcBef>
                <a:spcPts val="0"/>
              </a:spcBef>
              <a:spcAft>
                <a:spcPts val="0"/>
              </a:spcAft>
              <a:buClr>
                <a:schemeClr val="lt1"/>
              </a:buClr>
              <a:buSzPts val="1500"/>
              <a:buChar char="■"/>
              <a:defRPr>
                <a:solidFill>
                  <a:schemeClr val="lt1"/>
                </a:solidFill>
              </a:defRPr>
            </a:lvl3pPr>
            <a:lvl4pPr indent="-323850" lvl="3" marL="1828800" algn="l">
              <a:lnSpc>
                <a:spcPct val="115000"/>
              </a:lnSpc>
              <a:spcBef>
                <a:spcPts val="0"/>
              </a:spcBef>
              <a:spcAft>
                <a:spcPts val="0"/>
              </a:spcAft>
              <a:buClr>
                <a:schemeClr val="lt1"/>
              </a:buClr>
              <a:buSzPts val="1500"/>
              <a:buChar char="●"/>
              <a:defRPr>
                <a:solidFill>
                  <a:schemeClr val="lt1"/>
                </a:solidFill>
              </a:defRPr>
            </a:lvl4pPr>
            <a:lvl5pPr indent="-323850" lvl="4" marL="2286000" algn="l">
              <a:lnSpc>
                <a:spcPct val="115000"/>
              </a:lnSpc>
              <a:spcBef>
                <a:spcPts val="0"/>
              </a:spcBef>
              <a:spcAft>
                <a:spcPts val="0"/>
              </a:spcAft>
              <a:buClr>
                <a:schemeClr val="lt1"/>
              </a:buClr>
              <a:buSzPts val="1500"/>
              <a:buChar char="○"/>
              <a:defRPr>
                <a:solidFill>
                  <a:schemeClr val="lt1"/>
                </a:solidFill>
              </a:defRPr>
            </a:lvl5pPr>
            <a:lvl6pPr indent="-323850" lvl="5" marL="2743200" algn="l">
              <a:lnSpc>
                <a:spcPct val="115000"/>
              </a:lnSpc>
              <a:spcBef>
                <a:spcPts val="0"/>
              </a:spcBef>
              <a:spcAft>
                <a:spcPts val="0"/>
              </a:spcAft>
              <a:buClr>
                <a:schemeClr val="lt1"/>
              </a:buClr>
              <a:buSzPts val="1500"/>
              <a:buChar char="■"/>
              <a:defRPr>
                <a:solidFill>
                  <a:schemeClr val="lt1"/>
                </a:solidFill>
              </a:defRPr>
            </a:lvl6pPr>
            <a:lvl7pPr indent="-323850" lvl="6" marL="3200400" algn="l">
              <a:lnSpc>
                <a:spcPct val="115000"/>
              </a:lnSpc>
              <a:spcBef>
                <a:spcPts val="0"/>
              </a:spcBef>
              <a:spcAft>
                <a:spcPts val="0"/>
              </a:spcAft>
              <a:buClr>
                <a:schemeClr val="lt1"/>
              </a:buClr>
              <a:buSzPts val="1500"/>
              <a:buChar char="●"/>
              <a:defRPr>
                <a:solidFill>
                  <a:schemeClr val="lt1"/>
                </a:solidFill>
              </a:defRPr>
            </a:lvl7pPr>
            <a:lvl8pPr indent="-323850" lvl="7" marL="3657600" algn="l">
              <a:lnSpc>
                <a:spcPct val="115000"/>
              </a:lnSpc>
              <a:spcBef>
                <a:spcPts val="0"/>
              </a:spcBef>
              <a:spcAft>
                <a:spcPts val="0"/>
              </a:spcAft>
              <a:buClr>
                <a:schemeClr val="lt1"/>
              </a:buClr>
              <a:buSzPts val="1500"/>
              <a:buChar char="○"/>
              <a:defRPr>
                <a:solidFill>
                  <a:schemeClr val="lt1"/>
                </a:solidFill>
              </a:defRPr>
            </a:lvl8pPr>
            <a:lvl9pPr indent="-323850" lvl="8" marL="4114800" algn="l">
              <a:lnSpc>
                <a:spcPct val="115000"/>
              </a:lnSpc>
              <a:spcBef>
                <a:spcPts val="0"/>
              </a:spcBef>
              <a:spcAft>
                <a:spcPts val="0"/>
              </a:spcAft>
              <a:buClr>
                <a:schemeClr val="lt1"/>
              </a:buClr>
              <a:buSzPts val="1500"/>
              <a:buChar char="■"/>
              <a:defRPr>
                <a:solidFill>
                  <a:schemeClr val="lt1"/>
                </a:solidFill>
              </a:defRPr>
            </a:lvl9pPr>
          </a:lstStyle>
          <a:p/>
        </p:txBody>
      </p:sp>
      <p:sp>
        <p:nvSpPr>
          <p:cNvPr id="60" name="Google Shape;60;p4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 name="Shape 61"/>
        <p:cNvGrpSpPr/>
        <p:nvPr/>
      </p:nvGrpSpPr>
      <p:grpSpPr>
        <a:xfrm>
          <a:off x="0" y="0"/>
          <a:ext cx="0" cy="0"/>
          <a:chOff x="0" y="0"/>
          <a:chExt cx="0" cy="0"/>
        </a:xfrm>
      </p:grpSpPr>
      <p:sp>
        <p:nvSpPr>
          <p:cNvPr id="62" name="Google Shape;62;p49"/>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49"/>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49"/>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65" name="Google Shape;65;p4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66" name="Shape 66"/>
        <p:cNvGrpSpPr/>
        <p:nvPr/>
      </p:nvGrpSpPr>
      <p:grpSpPr>
        <a:xfrm>
          <a:off x="0" y="0"/>
          <a:ext cx="0" cy="0"/>
          <a:chOff x="0" y="0"/>
          <a:chExt cx="0" cy="0"/>
        </a:xfrm>
      </p:grpSpPr>
      <p:sp>
        <p:nvSpPr>
          <p:cNvPr id="67" name="Google Shape;67;p50"/>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68" name="Google Shape;68;p50"/>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rmAutofit/>
          </a:bodyPr>
          <a:lstStyle>
            <a:lvl1pPr indent="-323850" lvl="0" marL="457200" algn="ctr">
              <a:lnSpc>
                <a:spcPct val="115000"/>
              </a:lnSpc>
              <a:spcBef>
                <a:spcPts val="0"/>
              </a:spcBef>
              <a:spcAft>
                <a:spcPts val="0"/>
              </a:spcAft>
              <a:buSzPts val="1500"/>
              <a:buChar char="●"/>
              <a:defRPr/>
            </a:lvl1pPr>
            <a:lvl2pPr indent="-323850" lvl="1" marL="914400" algn="ctr">
              <a:lnSpc>
                <a:spcPct val="115000"/>
              </a:lnSpc>
              <a:spcBef>
                <a:spcPts val="0"/>
              </a:spcBef>
              <a:spcAft>
                <a:spcPts val="0"/>
              </a:spcAft>
              <a:buSzPts val="1500"/>
              <a:buChar char="○"/>
              <a:defRPr/>
            </a:lvl2pPr>
            <a:lvl3pPr indent="-323850" lvl="2" marL="1371600" algn="ctr">
              <a:lnSpc>
                <a:spcPct val="115000"/>
              </a:lnSpc>
              <a:spcBef>
                <a:spcPts val="0"/>
              </a:spcBef>
              <a:spcAft>
                <a:spcPts val="0"/>
              </a:spcAft>
              <a:buSzPts val="1500"/>
              <a:buChar char="■"/>
              <a:defRPr/>
            </a:lvl3pPr>
            <a:lvl4pPr indent="-323850" lvl="3" marL="1828800" algn="ctr">
              <a:lnSpc>
                <a:spcPct val="115000"/>
              </a:lnSpc>
              <a:spcBef>
                <a:spcPts val="0"/>
              </a:spcBef>
              <a:spcAft>
                <a:spcPts val="0"/>
              </a:spcAft>
              <a:buSzPts val="1500"/>
              <a:buChar char="●"/>
              <a:defRPr/>
            </a:lvl4pPr>
            <a:lvl5pPr indent="-323850" lvl="4" marL="2286000" algn="ctr">
              <a:lnSpc>
                <a:spcPct val="115000"/>
              </a:lnSpc>
              <a:spcBef>
                <a:spcPts val="0"/>
              </a:spcBef>
              <a:spcAft>
                <a:spcPts val="0"/>
              </a:spcAft>
              <a:buSzPts val="1500"/>
              <a:buChar char="○"/>
              <a:defRPr/>
            </a:lvl5pPr>
            <a:lvl6pPr indent="-323850" lvl="5" marL="2743200" algn="ctr">
              <a:lnSpc>
                <a:spcPct val="115000"/>
              </a:lnSpc>
              <a:spcBef>
                <a:spcPts val="0"/>
              </a:spcBef>
              <a:spcAft>
                <a:spcPts val="0"/>
              </a:spcAft>
              <a:buSzPts val="1500"/>
              <a:buChar char="■"/>
              <a:defRPr/>
            </a:lvl6pPr>
            <a:lvl7pPr indent="-323850" lvl="6" marL="3200400" algn="ctr">
              <a:lnSpc>
                <a:spcPct val="115000"/>
              </a:lnSpc>
              <a:spcBef>
                <a:spcPts val="0"/>
              </a:spcBef>
              <a:spcAft>
                <a:spcPts val="0"/>
              </a:spcAft>
              <a:buSzPts val="1500"/>
              <a:buChar char="●"/>
              <a:defRPr/>
            </a:lvl7pPr>
            <a:lvl8pPr indent="-323850" lvl="7" marL="3657600" algn="ctr">
              <a:lnSpc>
                <a:spcPct val="115000"/>
              </a:lnSpc>
              <a:spcBef>
                <a:spcPts val="0"/>
              </a:spcBef>
              <a:spcAft>
                <a:spcPts val="0"/>
              </a:spcAft>
              <a:buSzPts val="1500"/>
              <a:buChar char="○"/>
              <a:defRPr/>
            </a:lvl8pPr>
            <a:lvl9pPr indent="-323850" lvl="8" marL="4114800" algn="ctr">
              <a:lnSpc>
                <a:spcPct val="115000"/>
              </a:lnSpc>
              <a:spcBef>
                <a:spcPts val="0"/>
              </a:spcBef>
              <a:spcAft>
                <a:spcPts val="0"/>
              </a:spcAft>
              <a:buSzPts val="1500"/>
              <a:buChar char="■"/>
              <a:defRPr/>
            </a:lvl9pPr>
          </a:lstStyle>
          <a:p/>
        </p:txBody>
      </p:sp>
      <p:sp>
        <p:nvSpPr>
          <p:cNvPr id="69" name="Google Shape;69;p5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38"/>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23850" lvl="0" marL="4572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1pPr>
            <a:lvl2pPr indent="-323850" lvl="1" marL="9144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2pPr>
            <a:lvl3pPr indent="-323850" lvl="2" marL="13716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3pPr>
            <a:lvl4pPr indent="-323850" lvl="3" marL="18288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4pPr>
            <a:lvl5pPr indent="-323850" lvl="4" marL="22860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5pPr>
            <a:lvl6pPr indent="-323850" lvl="5" marL="27432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6pPr>
            <a:lvl7pPr indent="-323850" lvl="6" marL="32004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7pPr>
            <a:lvl8pPr indent="-323850" lvl="7" marL="36576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8pPr>
            <a:lvl9pPr indent="-323850" lvl="8" marL="4114800" marR="0" rtl="0" algn="l">
              <a:lnSpc>
                <a:spcPct val="115000"/>
              </a:lnSpc>
              <a:spcBef>
                <a:spcPts val="0"/>
              </a:spcBef>
              <a:spcAft>
                <a:spcPts val="0"/>
              </a:spcAft>
              <a:buClr>
                <a:srgbClr val="000000"/>
              </a:buClr>
              <a:buSzPts val="1500"/>
              <a:buFont typeface="Arial"/>
              <a:buChar char="■"/>
              <a:defRPr b="0" i="0" sz="1500" u="none" cap="none" strike="noStrike">
                <a:solidFill>
                  <a:srgbClr val="000000"/>
                </a:solidFill>
                <a:latin typeface="Arial"/>
                <a:ea typeface="Arial"/>
                <a:cs typeface="Arial"/>
                <a:sym typeface="Arial"/>
              </a:defRPr>
            </a:lvl9pPr>
          </a:lstStyle>
          <a:p/>
        </p:txBody>
      </p:sp>
      <p:sp>
        <p:nvSpPr>
          <p:cNvPr id="8" name="Google Shape;8;p3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38"/>
          <p:cNvPicPr preferRelativeResize="0"/>
          <p:nvPr/>
        </p:nvPicPr>
        <p:blipFill rotWithShape="1">
          <a:blip r:embed="rId1">
            <a:alphaModFix/>
          </a:blip>
          <a:srcRect b="0" l="0" r="0" t="0"/>
          <a:stretch/>
        </p:blipFill>
        <p:spPr>
          <a:xfrm>
            <a:off x="8016750" y="0"/>
            <a:ext cx="1127250" cy="11272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github.com" TargetMode="External"/><Relationship Id="rId4" Type="http://schemas.openxmlformats.org/officeDocument/2006/relationships/hyperlink" Target="https://github.com" TargetMode="External"/><Relationship Id="rId5" Type="http://schemas.openxmlformats.org/officeDocument/2006/relationships/hyperlink" Target="https://git-scm.com" TargetMode="External"/><Relationship Id="rId6" Type="http://schemas.openxmlformats.org/officeDocument/2006/relationships/hyperlink" Target="https://git-scm.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vercel.com" TargetMode="External"/><Relationship Id="rId4" Type="http://schemas.openxmlformats.org/officeDocument/2006/relationships/hyperlink" Target="https://vercel.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23.png"/><Relationship Id="rId9"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5.png"/><Relationship Id="rId8"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g2d8342e4aa7_0_0"/>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pic>
        <p:nvPicPr>
          <p:cNvPr descr="A logo on a blue background&#10;&#10;Description automatically generated" id="75" name="Google Shape;75;g2d8342e4aa7_0_0"/>
          <p:cNvPicPr preferRelativeResize="0"/>
          <p:nvPr/>
        </p:nvPicPr>
        <p:blipFill rotWithShape="1">
          <a:blip r:embed="rId3">
            <a:alphaModFix/>
          </a:blip>
          <a:srcRect b="0" l="0" r="2780" t="0"/>
          <a:stretch/>
        </p:blipFill>
        <p:spPr>
          <a:xfrm>
            <a:off x="3082595" y="8"/>
            <a:ext cx="6061405" cy="5143500"/>
          </a:xfrm>
          <a:custGeom>
            <a:rect b="b" l="l" r="r" t="t"/>
            <a:pathLst>
              <a:path extrusionOk="0" h="6858000" w="8081873">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ln>
            <a:noFill/>
          </a:ln>
        </p:spPr>
      </p:pic>
      <p:sp>
        <p:nvSpPr>
          <p:cNvPr id="76" name="Google Shape;76;g2d8342e4aa7_0_0"/>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9020"/>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7" name="Google Shape;77;g2d8342e4aa7_0_0"/>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chemeClr val="dk2"/>
              </a:solidFill>
              <a:latin typeface="Calibri"/>
              <a:ea typeface="Calibri"/>
              <a:cs typeface="Calibri"/>
              <a:sym typeface="Calibri"/>
            </a:endParaRPr>
          </a:p>
        </p:txBody>
      </p:sp>
      <p:sp>
        <p:nvSpPr>
          <p:cNvPr id="78" name="Google Shape;78;g2d8342e4aa7_0_0"/>
          <p:cNvSpPr/>
          <p:nvPr/>
        </p:nvSpPr>
        <p:spPr>
          <a:xfrm>
            <a:off x="360772" y="3410190"/>
            <a:ext cx="3017400" cy="13800"/>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79" name="Google Shape;79;g2d8342e4aa7_0_0"/>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linktr.ee/CODE.CRUNCH</a:t>
            </a:r>
            <a:endParaRPr b="0" i="0" sz="1500" u="none" cap="none" strike="noStrike">
              <a:solidFill>
                <a:srgbClr val="000000"/>
              </a:solidFill>
              <a:latin typeface="Arial"/>
              <a:ea typeface="Arial"/>
              <a:cs typeface="Arial"/>
              <a:sym typeface="Arial"/>
            </a:endParaRPr>
          </a:p>
        </p:txBody>
      </p:sp>
      <p:sp>
        <p:nvSpPr>
          <p:cNvPr id="80" name="Google Shape;80;g2d8342e4aa7_0_0"/>
          <p:cNvSpPr txBox="1"/>
          <p:nvPr/>
        </p:nvSpPr>
        <p:spPr>
          <a:xfrm>
            <a:off x="285250" y="3675300"/>
            <a:ext cx="1553100" cy="493500"/>
          </a:xfrm>
          <a:prstGeom prst="rect">
            <a:avLst/>
          </a:prstGeom>
          <a:noFill/>
          <a:ln>
            <a:noFill/>
          </a:ln>
        </p:spPr>
        <p:txBody>
          <a:bodyPr anchorCtr="0" anchor="t" bIns="34275" lIns="68575" spcFirstLastPara="1" rIns="68575" wrap="square" tIns="34275">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 sz="6000" u="none" cap="none" strike="noStrike">
                <a:solidFill>
                  <a:srgbClr val="000000"/>
                </a:solidFill>
                <a:latin typeface="Arial"/>
                <a:ea typeface="Arial"/>
                <a:cs typeface="Arial"/>
                <a:sym typeface="Arial"/>
              </a:rPr>
              <a:t>Attendance</a:t>
            </a:r>
            <a:r>
              <a:rPr b="1" i="0" lang="en" sz="3800" u="none" cap="none" strike="noStrike">
                <a:solidFill>
                  <a:srgbClr val="000000"/>
                </a:solidFill>
                <a:latin typeface="Arial"/>
                <a:ea typeface="Arial"/>
                <a:cs typeface="Arial"/>
                <a:sym typeface="Arial"/>
              </a:rPr>
              <a:t> </a:t>
            </a:r>
            <a:endParaRPr b="1" i="0" sz="3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1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1500" u="none" cap="none" strike="noStrike">
              <a:solidFill>
                <a:srgbClr val="000000"/>
              </a:solidFill>
              <a:latin typeface="Arial"/>
              <a:ea typeface="Arial"/>
              <a:cs typeface="Arial"/>
              <a:sym typeface="Arial"/>
            </a:endParaRPr>
          </a:p>
        </p:txBody>
      </p:sp>
      <p:pic>
        <p:nvPicPr>
          <p:cNvPr id="81" name="Google Shape;81;g2d8342e4aa7_0_0"/>
          <p:cNvPicPr preferRelativeResize="0"/>
          <p:nvPr/>
        </p:nvPicPr>
        <p:blipFill rotWithShape="1">
          <a:blip r:embed="rId4">
            <a:alphaModFix/>
          </a:blip>
          <a:srcRect b="0" l="0" r="0" t="0"/>
          <a:stretch/>
        </p:blipFill>
        <p:spPr>
          <a:xfrm>
            <a:off x="360850" y="4612025"/>
            <a:ext cx="367200" cy="367200"/>
          </a:xfrm>
          <a:prstGeom prst="rect">
            <a:avLst/>
          </a:prstGeom>
          <a:solidFill>
            <a:schemeClr val="lt1"/>
          </a:solidFill>
          <a:ln>
            <a:noFill/>
          </a:ln>
        </p:spPr>
      </p:pic>
      <p:pic>
        <p:nvPicPr>
          <p:cNvPr id="82" name="Google Shape;82;g2d8342e4aa7_0_0"/>
          <p:cNvPicPr preferRelativeResize="0"/>
          <p:nvPr/>
        </p:nvPicPr>
        <p:blipFill rotWithShape="1">
          <a:blip r:embed="rId5">
            <a:alphaModFix/>
          </a:blip>
          <a:srcRect b="0" l="0" r="0" t="0"/>
          <a:stretch/>
        </p:blipFill>
        <p:spPr>
          <a:xfrm>
            <a:off x="2037999" y="3515925"/>
            <a:ext cx="1096474" cy="1085075"/>
          </a:xfrm>
          <a:prstGeom prst="rect">
            <a:avLst/>
          </a:prstGeom>
          <a:noFill/>
          <a:ln>
            <a:noFill/>
          </a:ln>
        </p:spPr>
      </p:pic>
      <p:sp>
        <p:nvSpPr>
          <p:cNvPr id="83" name="Google Shape;83;g2d8342e4aa7_0_0"/>
          <p:cNvSpPr/>
          <p:nvPr/>
        </p:nvSpPr>
        <p:spPr>
          <a:xfrm>
            <a:off x="3719275" y="0"/>
            <a:ext cx="5424900" cy="51435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2d8342e4aa7_0_0"/>
          <p:cNvSpPr/>
          <p:nvPr/>
        </p:nvSpPr>
        <p:spPr>
          <a:xfrm rot="10800000">
            <a:off x="2979225" y="0"/>
            <a:ext cx="2509950" cy="5143500"/>
          </a:xfrm>
          <a:prstGeom prst="flowChartOnlineStorag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 name="Google Shape;85;g2d8342e4aa7_0_0"/>
          <p:cNvPicPr preferRelativeResize="0"/>
          <p:nvPr/>
        </p:nvPicPr>
        <p:blipFill rotWithShape="1">
          <a:blip r:embed="rId6">
            <a:alphaModFix/>
          </a:blip>
          <a:srcRect b="0" l="0" r="0" t="0"/>
          <a:stretch/>
        </p:blipFill>
        <p:spPr>
          <a:xfrm>
            <a:off x="3614700" y="0"/>
            <a:ext cx="5143500" cy="5143500"/>
          </a:xfrm>
          <a:prstGeom prst="rect">
            <a:avLst/>
          </a:prstGeom>
          <a:noFill/>
          <a:ln>
            <a:noFill/>
          </a:ln>
        </p:spPr>
      </p:pic>
      <p:sp>
        <p:nvSpPr>
          <p:cNvPr id="86" name="Google Shape;86;g2d8342e4aa7_0_0"/>
          <p:cNvSpPr txBox="1"/>
          <p:nvPr/>
        </p:nvSpPr>
        <p:spPr>
          <a:xfrm>
            <a:off x="1990300" y="-109500"/>
            <a:ext cx="4719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87" name="Google Shape;87;g2d8342e4aa7_0_0"/>
          <p:cNvSpPr txBox="1"/>
          <p:nvPr/>
        </p:nvSpPr>
        <p:spPr>
          <a:xfrm>
            <a:off x="62700" y="294802"/>
            <a:ext cx="3283800" cy="3083700"/>
          </a:xfrm>
          <a:prstGeom prst="rect">
            <a:avLst/>
          </a:prstGeom>
          <a:noFill/>
          <a:ln>
            <a:noFill/>
          </a:ln>
        </p:spPr>
        <p:txBody>
          <a:bodyPr anchorCtr="0" anchor="b" bIns="45700" lIns="91425" spcFirstLastPara="1" rIns="91425" wrap="square" tIns="45700">
            <a:normAutofit fontScale="92500" lnSpcReduction="10000"/>
          </a:bodyPr>
          <a:lstStyle/>
          <a:p>
            <a:pPr indent="0" lvl="0" marL="0" rtl="0" algn="ctr">
              <a:lnSpc>
                <a:spcPct val="90000"/>
              </a:lnSpc>
              <a:spcBef>
                <a:spcPts val="0"/>
              </a:spcBef>
              <a:spcAft>
                <a:spcPts val="0"/>
              </a:spcAft>
              <a:buNone/>
            </a:pPr>
            <a:r>
              <a:rPr b="1" lang="en" sz="4400">
                <a:solidFill>
                  <a:srgbClr val="000000"/>
                </a:solidFill>
                <a:latin typeface="Calibri"/>
                <a:ea typeface="Calibri"/>
                <a:cs typeface="Calibri"/>
                <a:sym typeface="Calibri"/>
              </a:rPr>
              <a:t>Welcome to Code Crunch!</a:t>
            </a:r>
            <a:endParaRPr b="1" sz="4400">
              <a:solidFill>
                <a:srgbClr val="000000"/>
              </a:solidFill>
              <a:latin typeface="Calibri"/>
              <a:ea typeface="Calibri"/>
              <a:cs typeface="Calibri"/>
              <a:sym typeface="Calibri"/>
            </a:endParaRPr>
          </a:p>
          <a:p>
            <a:pPr indent="0" lvl="0" marL="0" rtl="0" algn="ctr">
              <a:lnSpc>
                <a:spcPct val="90000"/>
              </a:lnSpc>
              <a:spcBef>
                <a:spcPts val="0"/>
              </a:spcBef>
              <a:spcAft>
                <a:spcPts val="0"/>
              </a:spcAft>
              <a:buNone/>
            </a:pPr>
            <a:br>
              <a:rPr b="1" lang="en" sz="4400">
                <a:solidFill>
                  <a:srgbClr val="000000"/>
                </a:solidFill>
                <a:latin typeface="Calibri"/>
                <a:ea typeface="Calibri"/>
                <a:cs typeface="Calibri"/>
                <a:sym typeface="Calibri"/>
              </a:rPr>
            </a:br>
            <a:r>
              <a:rPr b="1" lang="en" sz="3500">
                <a:solidFill>
                  <a:srgbClr val="000000"/>
                </a:solidFill>
                <a:latin typeface="Calibri"/>
                <a:ea typeface="Calibri"/>
                <a:cs typeface="Calibri"/>
                <a:sym typeface="Calibri"/>
              </a:rPr>
              <a:t>C</a:t>
            </a:r>
            <a:r>
              <a:rPr b="1" lang="en" sz="3500">
                <a:latin typeface="Calibri"/>
                <a:ea typeface="Calibri"/>
                <a:cs typeface="Calibri"/>
                <a:sym typeface="Calibri"/>
              </a:rPr>
              <a:t>8</a:t>
            </a:r>
            <a:r>
              <a:rPr b="1" lang="en" sz="3500">
                <a:solidFill>
                  <a:srgbClr val="000000"/>
                </a:solidFill>
                <a:latin typeface="Calibri"/>
                <a:ea typeface="Calibri"/>
                <a:cs typeface="Calibri"/>
                <a:sym typeface="Calibri"/>
              </a:rPr>
              <a:t>|</a:t>
            </a:r>
            <a:r>
              <a:rPr b="1" lang="en" sz="3500">
                <a:solidFill>
                  <a:srgbClr val="000000"/>
                </a:solidFill>
              </a:rPr>
              <a:t>Crunch </a:t>
            </a:r>
            <a:r>
              <a:rPr b="1" lang="en" sz="3500"/>
              <a:t>Labs: Web Dev</a:t>
            </a:r>
            <a:endParaRPr b="1" sz="3500"/>
          </a:p>
          <a:p>
            <a:pPr indent="0" lvl="0" marL="0" rtl="0" algn="ctr">
              <a:lnSpc>
                <a:spcPct val="90000"/>
              </a:lnSpc>
              <a:spcBef>
                <a:spcPts val="0"/>
              </a:spcBef>
              <a:spcAft>
                <a:spcPts val="0"/>
              </a:spcAft>
              <a:buNone/>
            </a:pPr>
            <a:r>
              <a:t/>
            </a:r>
            <a:endParaRPr b="1" sz="3500"/>
          </a:p>
          <a:p>
            <a:pPr indent="0" lvl="0" marL="0" rtl="0" algn="ctr">
              <a:lnSpc>
                <a:spcPct val="90000"/>
              </a:lnSpc>
              <a:spcBef>
                <a:spcPts val="0"/>
              </a:spcBef>
              <a:spcAft>
                <a:spcPts val="0"/>
              </a:spcAft>
              <a:buNone/>
            </a:pPr>
            <a:r>
              <a:rPr b="1" lang="en" sz="1678"/>
              <a:t>THU 3-4PM Weekly | Spring 2025</a:t>
            </a:r>
            <a:endParaRPr b="1" sz="3500">
              <a:solidFill>
                <a:srgbClr val="000000"/>
              </a:solidFill>
            </a:endParaRPr>
          </a:p>
        </p:txBody>
      </p:sp>
      <p:sp>
        <p:nvSpPr>
          <p:cNvPr id="88" name="Google Shape;88;g2d8342e4aa7_0_0"/>
          <p:cNvSpPr txBox="1"/>
          <p:nvPr/>
        </p:nvSpPr>
        <p:spPr>
          <a:xfrm>
            <a:off x="360775" y="4073800"/>
            <a:ext cx="1553100" cy="493500"/>
          </a:xfrm>
          <a:prstGeom prst="rect">
            <a:avLst/>
          </a:prstGeom>
          <a:noFill/>
          <a:ln>
            <a:noFill/>
          </a:ln>
        </p:spPr>
        <p:txBody>
          <a:bodyPr anchorCtr="0" anchor="t" bIns="34275" lIns="68575" spcFirstLastPara="1" rIns="68575" wrap="square" tIns="34275">
            <a:noAutofit/>
          </a:bodyPr>
          <a:lstStyle/>
          <a:p>
            <a:pPr indent="0" lvl="0" marL="0" marR="0" rtl="0" algn="ctr">
              <a:lnSpc>
                <a:spcPct val="70000"/>
              </a:lnSpc>
              <a:spcBef>
                <a:spcPts val="0"/>
              </a:spcBef>
              <a:spcAft>
                <a:spcPts val="0"/>
              </a:spcAft>
              <a:buClr>
                <a:srgbClr val="000000"/>
              </a:buClr>
              <a:buSzPts val="375"/>
              <a:buFont typeface="Arial"/>
              <a:buNone/>
            </a:pPr>
            <a:r>
              <a:rPr b="1" lang="en" sz="900"/>
              <a:t>Earn a Certificate of Completion by attending at least 70% of the workshops</a:t>
            </a:r>
            <a:endParaRPr b="0" i="0" sz="175"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800"/>
              <a:buNone/>
            </a:pPr>
            <a:r>
              <a:rPr lang="en"/>
              <a:t>Week #10		</a:t>
            </a:r>
            <a:endParaRPr/>
          </a:p>
        </p:txBody>
      </p:sp>
      <p:sp>
        <p:nvSpPr>
          <p:cNvPr id="94" name="Google Shape;94;p2"/>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500"/>
              <a:buNone/>
            </a:pPr>
            <a:r>
              <a:rPr lang="en"/>
              <a:t>Enhancing Interactivity with DOM Manipulation and Event Handling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 Introduction to the Week’s Topic</a:t>
            </a:r>
            <a:endParaRPr/>
          </a:p>
        </p:txBody>
      </p:sp>
      <p:sp>
        <p:nvSpPr>
          <p:cNvPr id="100" name="Google Shape;100;p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500"/>
              <a:buNone/>
            </a:pPr>
            <a:r>
              <a:rPr b="1" lang="en" sz="1800"/>
              <a:t>Overview</a:t>
            </a:r>
            <a:r>
              <a:rPr lang="en" sz="1800"/>
              <a:t>: This week focuses on </a:t>
            </a:r>
            <a:r>
              <a:rPr b="1" lang="en" sz="1800"/>
              <a:t>JavaScript DOM manipulation</a:t>
            </a:r>
            <a:r>
              <a:rPr lang="en" sz="1800"/>
              <a:t> and handling </a:t>
            </a:r>
            <a:r>
              <a:rPr b="1" lang="en" sz="1800"/>
              <a:t>events</a:t>
            </a:r>
            <a:r>
              <a:rPr lang="en" sz="1800"/>
              <a:t> to create interactive web experiences. You'll learn how to dynamically modify the content and structure of a webpage using JavaScript.</a:t>
            </a:r>
            <a:endParaRPr sz="1800"/>
          </a:p>
          <a:p>
            <a:pPr indent="0" lvl="0" marL="0" rtl="0" algn="l">
              <a:lnSpc>
                <a:spcPct val="115000"/>
              </a:lnSpc>
              <a:spcBef>
                <a:spcPts val="1200"/>
              </a:spcBef>
              <a:spcAft>
                <a:spcPts val="0"/>
              </a:spcAft>
              <a:buSzPts val="1500"/>
              <a:buNone/>
            </a:pPr>
            <a:r>
              <a:rPr b="1" lang="en" sz="1800"/>
              <a:t>Real-World Relevance</a:t>
            </a:r>
            <a:r>
              <a:rPr lang="en" sz="1800"/>
              <a:t>:</a:t>
            </a:r>
            <a:endParaRPr sz="1800"/>
          </a:p>
          <a:p>
            <a:pPr indent="-342900" lvl="0" marL="457200" rtl="0" algn="l">
              <a:lnSpc>
                <a:spcPct val="115000"/>
              </a:lnSpc>
              <a:spcBef>
                <a:spcPts val="1200"/>
              </a:spcBef>
              <a:spcAft>
                <a:spcPts val="0"/>
              </a:spcAft>
              <a:buSzPts val="1800"/>
              <a:buChar char="●"/>
            </a:pPr>
            <a:r>
              <a:rPr lang="en" sz="1800"/>
              <a:t>Dynamic web pages rely on DOM manipulation to update content without refreshing the page.</a:t>
            </a:r>
            <a:endParaRPr sz="1800"/>
          </a:p>
          <a:p>
            <a:pPr indent="-342900" lvl="0" marL="457200" rtl="0" algn="l">
              <a:lnSpc>
                <a:spcPct val="115000"/>
              </a:lnSpc>
              <a:spcBef>
                <a:spcPts val="0"/>
              </a:spcBef>
              <a:spcAft>
                <a:spcPts val="0"/>
              </a:spcAft>
              <a:buSzPts val="1800"/>
              <a:buChar char="●"/>
            </a:pPr>
            <a:r>
              <a:rPr lang="en" sz="1800"/>
              <a:t>Event handling allows user interactions (clicks, form submissions, etc.) to trigger JavaScript code, providing rich, responsive web apps.</a:t>
            </a:r>
            <a:endParaRPr sz="1800"/>
          </a:p>
          <a:p>
            <a:pPr indent="0" lvl="0" marL="0" rtl="0" algn="l">
              <a:lnSpc>
                <a:spcPct val="115000"/>
              </a:lnSpc>
              <a:spcBef>
                <a:spcPts val="1200"/>
              </a:spcBef>
              <a:spcAft>
                <a:spcPts val="1200"/>
              </a:spcAft>
              <a:buSzPts val="1500"/>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Key Concepts for Today’s Lecture</a:t>
            </a:r>
            <a:endParaRPr/>
          </a:p>
        </p:txBody>
      </p:sp>
      <p:sp>
        <p:nvSpPr>
          <p:cNvPr id="106" name="Google Shape;106;p4"/>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SzPts val="2100"/>
              <a:buChar char="●"/>
            </a:pPr>
            <a:r>
              <a:rPr b="1" lang="en" sz="2100"/>
              <a:t>Concepts Covered</a:t>
            </a:r>
            <a:r>
              <a:rPr lang="en" sz="2100"/>
              <a:t>:</a:t>
            </a:r>
            <a:endParaRPr sz="2100"/>
          </a:p>
          <a:p>
            <a:pPr indent="-361950" lvl="1" marL="914400" rtl="0" algn="l">
              <a:lnSpc>
                <a:spcPct val="115000"/>
              </a:lnSpc>
              <a:spcBef>
                <a:spcPts val="0"/>
              </a:spcBef>
              <a:spcAft>
                <a:spcPts val="0"/>
              </a:spcAft>
              <a:buSzPts val="2100"/>
              <a:buAutoNum type="arabicPeriod"/>
            </a:pPr>
            <a:r>
              <a:rPr b="1" lang="en" sz="2100"/>
              <a:t>DOM Manipulation</a:t>
            </a:r>
            <a:r>
              <a:rPr lang="en" sz="2100"/>
              <a:t>: Creating, updating, and deleting HTML elements dynamically.</a:t>
            </a:r>
            <a:endParaRPr sz="2100"/>
          </a:p>
          <a:p>
            <a:pPr indent="-361950" lvl="1" marL="914400" rtl="0" algn="l">
              <a:lnSpc>
                <a:spcPct val="115000"/>
              </a:lnSpc>
              <a:spcBef>
                <a:spcPts val="0"/>
              </a:spcBef>
              <a:spcAft>
                <a:spcPts val="0"/>
              </a:spcAft>
              <a:buSzPts val="2100"/>
              <a:buAutoNum type="arabicPeriod"/>
            </a:pPr>
            <a:r>
              <a:rPr b="1" lang="en" sz="2100"/>
              <a:t>Event Handling</a:t>
            </a:r>
            <a:r>
              <a:rPr lang="en" sz="2100"/>
              <a:t>: Listening for and responding to user actions like clicks, mouse movements, and key presses.</a:t>
            </a:r>
            <a:endParaRPr sz="2100"/>
          </a:p>
          <a:p>
            <a:pPr indent="-361950" lvl="1" marL="914400" rtl="0" algn="l">
              <a:lnSpc>
                <a:spcPct val="115000"/>
              </a:lnSpc>
              <a:spcBef>
                <a:spcPts val="0"/>
              </a:spcBef>
              <a:spcAft>
                <a:spcPts val="0"/>
              </a:spcAft>
              <a:buSzPts val="2100"/>
              <a:buAutoNum type="arabicPeriod"/>
            </a:pPr>
            <a:r>
              <a:rPr b="1" lang="en" sz="2100"/>
              <a:t>Event Propagation</a:t>
            </a:r>
            <a:r>
              <a:rPr lang="en" sz="2100"/>
              <a:t>: Understanding </a:t>
            </a:r>
            <a:r>
              <a:rPr b="1" lang="en" sz="2100"/>
              <a:t>bubbling</a:t>
            </a:r>
            <a:r>
              <a:rPr lang="en" sz="2100"/>
              <a:t> vs. </a:t>
            </a:r>
            <a:r>
              <a:rPr b="1" lang="en" sz="2100"/>
              <a:t>capturing</a:t>
            </a:r>
            <a:r>
              <a:rPr lang="en" sz="2100"/>
              <a:t> to control event flow.</a:t>
            </a:r>
            <a:endParaRPr sz="2100"/>
          </a:p>
          <a:p>
            <a:pPr indent="0" lvl="0" marL="0" rtl="0" algn="l">
              <a:lnSpc>
                <a:spcPct val="115000"/>
              </a:lnSpc>
              <a:spcBef>
                <a:spcPts val="1200"/>
              </a:spcBef>
              <a:spcAft>
                <a:spcPts val="1200"/>
              </a:spcAft>
              <a:buSzPts val="1500"/>
              <a:buNone/>
            </a:pPr>
            <a:r>
              <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 What is the DOM?</a:t>
            </a:r>
            <a:endParaRPr/>
          </a:p>
        </p:txBody>
      </p:sp>
      <p:sp>
        <p:nvSpPr>
          <p:cNvPr id="112" name="Google Shape;112;p5"/>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500"/>
              <a:buNone/>
            </a:pPr>
            <a:r>
              <a:rPr b="1" lang="en" sz="1800"/>
              <a:t>DOM (Document Object Model)</a:t>
            </a:r>
            <a:r>
              <a:rPr lang="en" sz="1800"/>
              <a:t>:</a:t>
            </a:r>
            <a:endParaRPr sz="1800"/>
          </a:p>
          <a:p>
            <a:pPr indent="-342900" lvl="0" marL="457200" rtl="0" algn="l">
              <a:lnSpc>
                <a:spcPct val="115000"/>
              </a:lnSpc>
              <a:spcBef>
                <a:spcPts val="1200"/>
              </a:spcBef>
              <a:spcAft>
                <a:spcPts val="0"/>
              </a:spcAft>
              <a:buSzPts val="1800"/>
              <a:buChar char="●"/>
            </a:pPr>
            <a:r>
              <a:rPr lang="en" sz="1800"/>
              <a:t>The DOM is a </a:t>
            </a:r>
            <a:r>
              <a:rPr b="1" lang="en" sz="1800"/>
              <a:t>hierarchical tree structure</a:t>
            </a:r>
            <a:r>
              <a:rPr lang="en" sz="1800"/>
              <a:t> that represents the HTML or XML content of a webpage.</a:t>
            </a:r>
            <a:endParaRPr sz="1800"/>
          </a:p>
          <a:p>
            <a:pPr indent="-342900" lvl="0" marL="457200" rtl="0" algn="l">
              <a:lnSpc>
                <a:spcPct val="115000"/>
              </a:lnSpc>
              <a:spcBef>
                <a:spcPts val="0"/>
              </a:spcBef>
              <a:spcAft>
                <a:spcPts val="0"/>
              </a:spcAft>
              <a:buSzPts val="1800"/>
              <a:buChar char="●"/>
            </a:pPr>
            <a:r>
              <a:rPr lang="en" sz="1800"/>
              <a:t>JavaScript can interact with this structure to dynamically change content, styles, and elements.</a:t>
            </a:r>
            <a:endParaRPr sz="1800"/>
          </a:p>
          <a:p>
            <a:pPr indent="-342900" lvl="0" marL="457200" rtl="0" algn="l">
              <a:lnSpc>
                <a:spcPct val="115000"/>
              </a:lnSpc>
              <a:spcBef>
                <a:spcPts val="0"/>
              </a:spcBef>
              <a:spcAft>
                <a:spcPts val="0"/>
              </a:spcAft>
              <a:buSzPts val="1800"/>
              <a:buChar char="●"/>
            </a:pPr>
            <a:r>
              <a:rPr lang="en" sz="1800"/>
              <a:t>The DOM provides </a:t>
            </a:r>
            <a:r>
              <a:rPr b="1" lang="en" sz="1800"/>
              <a:t>methods</a:t>
            </a:r>
            <a:r>
              <a:rPr lang="en" sz="1800"/>
              <a:t> and </a:t>
            </a:r>
            <a:r>
              <a:rPr b="1" lang="en" sz="1800"/>
              <a:t>properties</a:t>
            </a:r>
            <a:r>
              <a:rPr lang="en" sz="1800"/>
              <a:t> for selecting, adding, deleting, and modifying elements.</a:t>
            </a:r>
            <a:endParaRPr sz="1800"/>
          </a:p>
          <a:p>
            <a:pPr indent="0" lvl="0" marL="0" rtl="0" algn="l">
              <a:lnSpc>
                <a:spcPct val="115000"/>
              </a:lnSpc>
              <a:spcBef>
                <a:spcPts val="1200"/>
              </a:spcBef>
              <a:spcAft>
                <a:spcPts val="1200"/>
              </a:spcAft>
              <a:buSzPts val="1500"/>
              <a:buNone/>
            </a:pPr>
            <a:r>
              <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6"/>
          <p:cNvPicPr preferRelativeResize="0"/>
          <p:nvPr/>
        </p:nvPicPr>
        <p:blipFill rotWithShape="1">
          <a:blip r:embed="rId3">
            <a:alphaModFix/>
          </a:blip>
          <a:srcRect b="0" l="0" r="0" t="0"/>
          <a:stretch/>
        </p:blipFill>
        <p:spPr>
          <a:xfrm>
            <a:off x="152400" y="152400"/>
            <a:ext cx="4686050" cy="2210400"/>
          </a:xfrm>
          <a:prstGeom prst="rect">
            <a:avLst/>
          </a:prstGeom>
          <a:noFill/>
          <a:ln cap="flat" cmpd="sng" w="19050">
            <a:solidFill>
              <a:schemeClr val="lt1"/>
            </a:solidFill>
            <a:prstDash val="solid"/>
            <a:round/>
            <a:headEnd len="sm" w="sm" type="none"/>
            <a:tailEnd len="sm" w="sm" type="none"/>
          </a:ln>
        </p:spPr>
      </p:pic>
      <p:pic>
        <p:nvPicPr>
          <p:cNvPr id="118" name="Google Shape;118;p6"/>
          <p:cNvPicPr preferRelativeResize="0"/>
          <p:nvPr/>
        </p:nvPicPr>
        <p:blipFill rotWithShape="1">
          <a:blip r:embed="rId4">
            <a:alphaModFix/>
          </a:blip>
          <a:srcRect b="0" l="0" r="0" t="0"/>
          <a:stretch/>
        </p:blipFill>
        <p:spPr>
          <a:xfrm>
            <a:off x="152400" y="3055900"/>
            <a:ext cx="8568675" cy="1565850"/>
          </a:xfrm>
          <a:prstGeom prst="rect">
            <a:avLst/>
          </a:prstGeom>
          <a:noFill/>
          <a:ln cap="flat" cmpd="sng" w="19050">
            <a:solidFill>
              <a:schemeClr val="lt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 DOM Manipulation: Creating Element</a:t>
            </a:r>
            <a:endParaRPr/>
          </a:p>
        </p:txBody>
      </p:sp>
      <p:sp>
        <p:nvSpPr>
          <p:cNvPr id="124" name="Google Shape;124;p7"/>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500"/>
              <a:buNone/>
            </a:pPr>
            <a:r>
              <a:rPr b="1" lang="en" sz="2000"/>
              <a:t>Creating New Elements</a:t>
            </a:r>
            <a:r>
              <a:rPr lang="en" sz="2000"/>
              <a:t>:</a:t>
            </a:r>
            <a:endParaRPr sz="2000"/>
          </a:p>
          <a:p>
            <a:pPr indent="-355600" lvl="0" marL="457200" rtl="0" algn="l">
              <a:lnSpc>
                <a:spcPct val="95000"/>
              </a:lnSpc>
              <a:spcBef>
                <a:spcPts val="1200"/>
              </a:spcBef>
              <a:spcAft>
                <a:spcPts val="0"/>
              </a:spcAft>
              <a:buSzPts val="2000"/>
              <a:buChar char="●"/>
            </a:pPr>
            <a:r>
              <a:rPr lang="en" sz="2000"/>
              <a:t>Use JavaScript to dynamically create new HTML elements.</a:t>
            </a:r>
            <a:endParaRPr sz="2000"/>
          </a:p>
          <a:p>
            <a:pPr indent="-355600" lvl="0" marL="457200" rtl="0" algn="l">
              <a:lnSpc>
                <a:spcPct val="95000"/>
              </a:lnSpc>
              <a:spcBef>
                <a:spcPts val="0"/>
              </a:spcBef>
              <a:spcAft>
                <a:spcPts val="0"/>
              </a:spcAft>
              <a:buSzPts val="2000"/>
              <a:buChar char="●"/>
            </a:pPr>
            <a:r>
              <a:rPr lang="en" sz="2000"/>
              <a:t>Example: Creating a new </a:t>
            </a:r>
            <a:r>
              <a:rPr lang="en" sz="2000">
                <a:solidFill>
                  <a:srgbClr val="188038"/>
                </a:solidFill>
                <a:latin typeface="Roboto Mono"/>
                <a:ea typeface="Roboto Mono"/>
                <a:cs typeface="Roboto Mono"/>
                <a:sym typeface="Roboto Mono"/>
              </a:rPr>
              <a:t>&lt;p&gt;</a:t>
            </a:r>
            <a:r>
              <a:rPr lang="en" sz="2000"/>
              <a:t> tag and adding it to the DOM.</a:t>
            </a:r>
            <a:endParaRPr sz="2000"/>
          </a:p>
          <a:p>
            <a:pPr indent="0" lvl="0" marL="0" rtl="0" algn="l">
              <a:lnSpc>
                <a:spcPct val="95000"/>
              </a:lnSpc>
              <a:spcBef>
                <a:spcPts val="1200"/>
              </a:spcBef>
              <a:spcAft>
                <a:spcPts val="0"/>
              </a:spcAft>
              <a:buSzPts val="1500"/>
              <a:buNone/>
            </a:pPr>
            <a:r>
              <a:rPr b="1" lang="en" sz="2000"/>
              <a:t>Inserting Elements into the DOM</a:t>
            </a:r>
            <a:r>
              <a:rPr lang="en" sz="2000"/>
              <a:t>:</a:t>
            </a:r>
            <a:endParaRPr sz="2000"/>
          </a:p>
          <a:p>
            <a:pPr indent="-355600" lvl="0" marL="457200" rtl="0" algn="l">
              <a:lnSpc>
                <a:spcPct val="95000"/>
              </a:lnSpc>
              <a:spcBef>
                <a:spcPts val="1200"/>
              </a:spcBef>
              <a:spcAft>
                <a:spcPts val="0"/>
              </a:spcAft>
              <a:buSzPts val="2000"/>
              <a:buChar char="●"/>
            </a:pPr>
            <a:r>
              <a:rPr lang="en" sz="2000"/>
              <a:t>You can use methods like </a:t>
            </a:r>
            <a:r>
              <a:rPr lang="en" sz="2000">
                <a:solidFill>
                  <a:srgbClr val="188038"/>
                </a:solidFill>
                <a:latin typeface="Roboto Mono"/>
                <a:ea typeface="Roboto Mono"/>
                <a:cs typeface="Roboto Mono"/>
                <a:sym typeface="Roboto Mono"/>
              </a:rPr>
              <a:t>appendChild()</a:t>
            </a:r>
            <a:r>
              <a:rPr lang="en" sz="2000"/>
              <a:t>, </a:t>
            </a:r>
            <a:r>
              <a:rPr lang="en" sz="2000">
                <a:solidFill>
                  <a:srgbClr val="188038"/>
                </a:solidFill>
                <a:latin typeface="Roboto Mono"/>
                <a:ea typeface="Roboto Mono"/>
                <a:cs typeface="Roboto Mono"/>
                <a:sym typeface="Roboto Mono"/>
              </a:rPr>
              <a:t>insertBefore()</a:t>
            </a:r>
            <a:r>
              <a:rPr lang="en" sz="2000"/>
              <a:t>, or </a:t>
            </a:r>
            <a:r>
              <a:rPr lang="en" sz="2000">
                <a:solidFill>
                  <a:srgbClr val="188038"/>
                </a:solidFill>
                <a:latin typeface="Roboto Mono"/>
                <a:ea typeface="Roboto Mono"/>
                <a:cs typeface="Roboto Mono"/>
                <a:sym typeface="Roboto Mono"/>
              </a:rPr>
              <a:t>replaceChild()</a:t>
            </a:r>
            <a:r>
              <a:rPr lang="en" sz="2000"/>
              <a:t> to add, replace, or move elements within the DOM.</a:t>
            </a:r>
            <a:endParaRPr sz="2000"/>
          </a:p>
          <a:p>
            <a:pPr indent="0" lvl="0" marL="0" rtl="0" algn="l">
              <a:lnSpc>
                <a:spcPct val="95000"/>
              </a:lnSpc>
              <a:spcBef>
                <a:spcPts val="1200"/>
              </a:spcBef>
              <a:spcAft>
                <a:spcPts val="1200"/>
              </a:spcAft>
              <a:buSzPts val="1500"/>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8"/>
          <p:cNvPicPr preferRelativeResize="0"/>
          <p:nvPr/>
        </p:nvPicPr>
        <p:blipFill rotWithShape="1">
          <a:blip r:embed="rId3">
            <a:alphaModFix/>
          </a:blip>
          <a:srcRect b="0" l="0" r="0" t="0"/>
          <a:stretch/>
        </p:blipFill>
        <p:spPr>
          <a:xfrm>
            <a:off x="257413" y="1221825"/>
            <a:ext cx="8629175" cy="1585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6000"/>
              <a:buNone/>
            </a:pPr>
            <a:r>
              <a:rPr lang="en"/>
              <a:t>DOM Manipulation: Updating Content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Modifying Existing Elements</a:t>
            </a:r>
            <a:endParaRPr/>
          </a:p>
        </p:txBody>
      </p:sp>
      <p:sp>
        <p:nvSpPr>
          <p:cNvPr id="140" name="Google Shape;140;p10"/>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349250" lvl="0" marL="457200" rtl="0" algn="l">
              <a:lnSpc>
                <a:spcPct val="115000"/>
              </a:lnSpc>
              <a:spcBef>
                <a:spcPts val="1200"/>
              </a:spcBef>
              <a:spcAft>
                <a:spcPts val="0"/>
              </a:spcAft>
              <a:buSzPts val="1900"/>
              <a:buChar char="●"/>
            </a:pPr>
            <a:r>
              <a:rPr b="1" lang="en" sz="1900"/>
              <a:t>Text Content</a:t>
            </a:r>
            <a:r>
              <a:rPr lang="en" sz="1900"/>
              <a:t>: Use </a:t>
            </a:r>
            <a:r>
              <a:rPr lang="en" sz="1900">
                <a:solidFill>
                  <a:srgbClr val="188038"/>
                </a:solidFill>
                <a:latin typeface="Roboto Mono"/>
                <a:ea typeface="Roboto Mono"/>
                <a:cs typeface="Roboto Mono"/>
                <a:sym typeface="Roboto Mono"/>
              </a:rPr>
              <a:t>textContent</a:t>
            </a:r>
            <a:r>
              <a:rPr lang="en" sz="1900"/>
              <a:t> to change the text inside an element.</a:t>
            </a:r>
            <a:endParaRPr sz="1900"/>
          </a:p>
          <a:p>
            <a:pPr indent="-349250" lvl="0" marL="457200" rtl="0" algn="l">
              <a:lnSpc>
                <a:spcPct val="115000"/>
              </a:lnSpc>
              <a:spcBef>
                <a:spcPts val="0"/>
              </a:spcBef>
              <a:spcAft>
                <a:spcPts val="0"/>
              </a:spcAft>
              <a:buSzPts val="1900"/>
              <a:buChar char="●"/>
            </a:pPr>
            <a:r>
              <a:rPr b="1" lang="en" sz="1900"/>
              <a:t>HTML Content</a:t>
            </a:r>
            <a:r>
              <a:rPr lang="en" sz="1900"/>
              <a:t>: Use </a:t>
            </a:r>
            <a:r>
              <a:rPr lang="en" sz="1900">
                <a:solidFill>
                  <a:srgbClr val="188038"/>
                </a:solidFill>
                <a:latin typeface="Roboto Mono"/>
                <a:ea typeface="Roboto Mono"/>
                <a:cs typeface="Roboto Mono"/>
                <a:sym typeface="Roboto Mono"/>
              </a:rPr>
              <a:t>innerHTML</a:t>
            </a:r>
            <a:r>
              <a:rPr lang="en" sz="1900"/>
              <a:t> to change the HTML content within an element.</a:t>
            </a:r>
            <a:endParaRPr sz="2300"/>
          </a:p>
        </p:txBody>
      </p:sp>
      <p:pic>
        <p:nvPicPr>
          <p:cNvPr id="141" name="Google Shape;141;p10"/>
          <p:cNvPicPr preferRelativeResize="0"/>
          <p:nvPr/>
        </p:nvPicPr>
        <p:blipFill rotWithShape="1">
          <a:blip r:embed="rId3">
            <a:alphaModFix/>
          </a:blip>
          <a:srcRect b="0" l="0" r="0" t="0"/>
          <a:stretch/>
        </p:blipFill>
        <p:spPr>
          <a:xfrm>
            <a:off x="628100" y="3492750"/>
            <a:ext cx="7716900" cy="1244700"/>
          </a:xfrm>
          <a:prstGeom prst="roundRect">
            <a:avLst>
              <a:gd fmla="val 16667" name="adj"/>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Changing Attributes</a:t>
            </a:r>
            <a:endParaRPr/>
          </a:p>
        </p:txBody>
      </p:sp>
      <p:sp>
        <p:nvSpPr>
          <p:cNvPr id="147" name="Google Shape;147;p1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1200"/>
              </a:spcBef>
              <a:spcAft>
                <a:spcPts val="0"/>
              </a:spcAft>
              <a:buSzPts val="2200"/>
              <a:buChar char="●"/>
            </a:pPr>
            <a:r>
              <a:rPr lang="en" sz="2200"/>
              <a:t>You can modify attributes of elements, like </a:t>
            </a:r>
            <a:r>
              <a:rPr lang="en" sz="2200">
                <a:solidFill>
                  <a:srgbClr val="188038"/>
                </a:solidFill>
                <a:latin typeface="Roboto Mono"/>
                <a:ea typeface="Roboto Mono"/>
                <a:cs typeface="Roboto Mono"/>
                <a:sym typeface="Roboto Mono"/>
              </a:rPr>
              <a:t>src</a:t>
            </a:r>
            <a:r>
              <a:rPr lang="en" sz="2200"/>
              <a:t>, </a:t>
            </a:r>
            <a:r>
              <a:rPr lang="en" sz="2200">
                <a:solidFill>
                  <a:srgbClr val="188038"/>
                </a:solidFill>
                <a:latin typeface="Roboto Mono"/>
                <a:ea typeface="Roboto Mono"/>
                <a:cs typeface="Roboto Mono"/>
                <a:sym typeface="Roboto Mono"/>
              </a:rPr>
              <a:t>href</a:t>
            </a:r>
            <a:r>
              <a:rPr lang="en" sz="2200"/>
              <a:t>, or </a:t>
            </a:r>
            <a:r>
              <a:rPr lang="en" sz="2200">
                <a:solidFill>
                  <a:srgbClr val="188038"/>
                </a:solidFill>
                <a:latin typeface="Roboto Mono"/>
                <a:ea typeface="Roboto Mono"/>
                <a:cs typeface="Roboto Mono"/>
                <a:sym typeface="Roboto Mono"/>
              </a:rPr>
              <a:t>class</a:t>
            </a:r>
            <a:r>
              <a:rPr lang="en" sz="2200"/>
              <a:t>.</a:t>
            </a:r>
            <a:endParaRPr sz="2600"/>
          </a:p>
        </p:txBody>
      </p:sp>
      <p:pic>
        <p:nvPicPr>
          <p:cNvPr id="148" name="Google Shape;148;p11"/>
          <p:cNvPicPr preferRelativeResize="0"/>
          <p:nvPr/>
        </p:nvPicPr>
        <p:blipFill rotWithShape="1">
          <a:blip r:embed="rId3">
            <a:alphaModFix/>
          </a:blip>
          <a:srcRect b="0" l="0" r="0" t="0"/>
          <a:stretch/>
        </p:blipFill>
        <p:spPr>
          <a:xfrm>
            <a:off x="524762" y="2955012"/>
            <a:ext cx="7973700" cy="1498500"/>
          </a:xfrm>
          <a:prstGeom prst="roundRect">
            <a:avLst>
              <a:gd fmla="val 16667" name="adj"/>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 DOM Manipulation: Removing Elements</a:t>
            </a:r>
            <a:endParaRPr/>
          </a:p>
        </p:txBody>
      </p:sp>
      <p:sp>
        <p:nvSpPr>
          <p:cNvPr id="154" name="Google Shape;154;p12"/>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500"/>
              <a:buNone/>
            </a:pPr>
            <a:r>
              <a:rPr b="1" lang="en" sz="2400"/>
              <a:t>Removing Elements</a:t>
            </a:r>
            <a:r>
              <a:rPr lang="en" sz="2400"/>
              <a:t>:</a:t>
            </a:r>
            <a:endParaRPr sz="2400"/>
          </a:p>
          <a:p>
            <a:pPr indent="-381000" lvl="0" marL="457200" rtl="0" algn="l">
              <a:lnSpc>
                <a:spcPct val="115000"/>
              </a:lnSpc>
              <a:spcBef>
                <a:spcPts val="1200"/>
              </a:spcBef>
              <a:spcAft>
                <a:spcPts val="0"/>
              </a:spcAft>
              <a:buSzPts val="2400"/>
              <a:buChar char="●"/>
            </a:pPr>
            <a:r>
              <a:rPr lang="en" sz="2400"/>
              <a:t>Use </a:t>
            </a:r>
            <a:r>
              <a:rPr lang="en" sz="2400">
                <a:solidFill>
                  <a:srgbClr val="188038"/>
                </a:solidFill>
                <a:latin typeface="Roboto Mono"/>
                <a:ea typeface="Roboto Mono"/>
                <a:cs typeface="Roboto Mono"/>
                <a:sym typeface="Roboto Mono"/>
              </a:rPr>
              <a:t>remove()</a:t>
            </a:r>
            <a:r>
              <a:rPr lang="en" sz="2400"/>
              <a:t> or </a:t>
            </a:r>
            <a:r>
              <a:rPr lang="en" sz="2400">
                <a:solidFill>
                  <a:srgbClr val="188038"/>
                </a:solidFill>
                <a:latin typeface="Roboto Mono"/>
                <a:ea typeface="Roboto Mono"/>
                <a:cs typeface="Roboto Mono"/>
                <a:sym typeface="Roboto Mono"/>
              </a:rPr>
              <a:t>removeChild()</a:t>
            </a:r>
            <a:r>
              <a:rPr lang="en" sz="2400"/>
              <a:t> to delete elements from the DOM.</a:t>
            </a:r>
            <a:endParaRPr sz="2400"/>
          </a:p>
          <a:p>
            <a:pPr indent="0" lvl="0" marL="0" rtl="0" algn="l">
              <a:lnSpc>
                <a:spcPct val="115000"/>
              </a:lnSpc>
              <a:spcBef>
                <a:spcPts val="1200"/>
              </a:spcBef>
              <a:spcAft>
                <a:spcPts val="1200"/>
              </a:spcAft>
              <a:buSzPts val="1500"/>
              <a:buNone/>
            </a:pPr>
            <a:r>
              <a:t/>
            </a:r>
            <a:endParaRPr sz="2800"/>
          </a:p>
        </p:txBody>
      </p:sp>
      <p:pic>
        <p:nvPicPr>
          <p:cNvPr id="155" name="Google Shape;155;p12"/>
          <p:cNvPicPr preferRelativeResize="0"/>
          <p:nvPr/>
        </p:nvPicPr>
        <p:blipFill rotWithShape="1">
          <a:blip r:embed="rId3">
            <a:alphaModFix/>
          </a:blip>
          <a:srcRect b="0" l="0" r="0" t="0"/>
          <a:stretch/>
        </p:blipFill>
        <p:spPr>
          <a:xfrm>
            <a:off x="253650" y="3540850"/>
            <a:ext cx="8658600" cy="1489500"/>
          </a:xfrm>
          <a:prstGeom prst="roundRect">
            <a:avLst>
              <a:gd fmla="val 1666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Event Handling in JavaScript</a:t>
            </a:r>
            <a:endParaRPr/>
          </a:p>
        </p:txBody>
      </p:sp>
      <p:sp>
        <p:nvSpPr>
          <p:cNvPr id="161" name="Google Shape;161;p1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500"/>
              <a:buNone/>
            </a:pPr>
            <a:r>
              <a:rPr b="1" lang="en" sz="1900"/>
              <a:t>What is an Event?</a:t>
            </a:r>
            <a:endParaRPr b="1" sz="1900"/>
          </a:p>
          <a:p>
            <a:pPr indent="-349250" lvl="0" marL="457200" rtl="0" algn="l">
              <a:lnSpc>
                <a:spcPct val="115000"/>
              </a:lnSpc>
              <a:spcBef>
                <a:spcPts val="1200"/>
              </a:spcBef>
              <a:spcAft>
                <a:spcPts val="0"/>
              </a:spcAft>
              <a:buSzPts val="1900"/>
              <a:buChar char="●"/>
            </a:pPr>
            <a:r>
              <a:rPr lang="en" sz="1900"/>
              <a:t>An event is an action that occurs as a result of user interaction or browser behavior (clicks, key presses, mouse movements).</a:t>
            </a:r>
            <a:endParaRPr sz="1900"/>
          </a:p>
          <a:p>
            <a:pPr indent="0" lvl="0" marL="0" rtl="0" algn="l">
              <a:lnSpc>
                <a:spcPct val="115000"/>
              </a:lnSpc>
              <a:spcBef>
                <a:spcPts val="1200"/>
              </a:spcBef>
              <a:spcAft>
                <a:spcPts val="0"/>
              </a:spcAft>
              <a:buSzPts val="1500"/>
              <a:buNone/>
            </a:pPr>
            <a:r>
              <a:rPr b="1" lang="en" sz="1900"/>
              <a:t>Event Listeners</a:t>
            </a:r>
            <a:r>
              <a:rPr lang="en" sz="1900"/>
              <a:t>:</a:t>
            </a:r>
            <a:endParaRPr sz="1900"/>
          </a:p>
          <a:p>
            <a:pPr indent="-349250" lvl="0" marL="457200" rtl="0" algn="l">
              <a:lnSpc>
                <a:spcPct val="115000"/>
              </a:lnSpc>
              <a:spcBef>
                <a:spcPts val="1200"/>
              </a:spcBef>
              <a:spcAft>
                <a:spcPts val="0"/>
              </a:spcAft>
              <a:buSzPts val="1900"/>
              <a:buChar char="●"/>
            </a:pPr>
            <a:r>
              <a:rPr lang="en" sz="1900"/>
              <a:t>JavaScript allows you to listen for events using </a:t>
            </a:r>
            <a:r>
              <a:rPr lang="en" sz="1900">
                <a:solidFill>
                  <a:srgbClr val="188038"/>
                </a:solidFill>
                <a:latin typeface="Roboto Mono"/>
                <a:ea typeface="Roboto Mono"/>
                <a:cs typeface="Roboto Mono"/>
                <a:sym typeface="Roboto Mono"/>
              </a:rPr>
              <a:t>addEventListener()</a:t>
            </a:r>
            <a:r>
              <a:rPr lang="en" sz="1900"/>
              <a:t> method.</a:t>
            </a:r>
            <a:endParaRPr sz="1900"/>
          </a:p>
          <a:p>
            <a:pPr indent="-349250" lvl="0" marL="457200" rtl="0" algn="l">
              <a:lnSpc>
                <a:spcPct val="115000"/>
              </a:lnSpc>
              <a:spcBef>
                <a:spcPts val="0"/>
              </a:spcBef>
              <a:spcAft>
                <a:spcPts val="0"/>
              </a:spcAft>
              <a:buSzPts val="1900"/>
              <a:buChar char="●"/>
            </a:pPr>
            <a:r>
              <a:rPr lang="en" sz="1900"/>
              <a:t>Example: Add a click event to a button</a:t>
            </a:r>
            <a:endParaRPr sz="1900"/>
          </a:p>
          <a:p>
            <a:pPr indent="0" lvl="0" marL="0" rtl="0" algn="l">
              <a:lnSpc>
                <a:spcPct val="115000"/>
              </a:lnSpc>
              <a:spcBef>
                <a:spcPts val="1200"/>
              </a:spcBef>
              <a:spcAft>
                <a:spcPts val="1200"/>
              </a:spcAft>
              <a:buSzPts val="1500"/>
              <a:buNone/>
            </a:pPr>
            <a:r>
              <a:t/>
            </a:r>
            <a:endParaRPr sz="2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4"/>
          <p:cNvPicPr preferRelativeResize="0"/>
          <p:nvPr/>
        </p:nvPicPr>
        <p:blipFill rotWithShape="1">
          <a:blip r:embed="rId3">
            <a:alphaModFix/>
          </a:blip>
          <a:srcRect b="0" l="0" r="0" t="0"/>
          <a:stretch/>
        </p:blipFill>
        <p:spPr>
          <a:xfrm>
            <a:off x="104350" y="1450100"/>
            <a:ext cx="8660866" cy="2419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Types of Events</a:t>
            </a:r>
            <a:endParaRPr/>
          </a:p>
        </p:txBody>
      </p:sp>
      <p:sp>
        <p:nvSpPr>
          <p:cNvPr id="172" name="Google Shape;172;p15"/>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1200"/>
              </a:spcBef>
              <a:spcAft>
                <a:spcPts val="0"/>
              </a:spcAft>
              <a:buSzPts val="2300"/>
              <a:buChar char="●"/>
            </a:pPr>
            <a:r>
              <a:rPr b="1" lang="en" sz="2300"/>
              <a:t>Common Event Types</a:t>
            </a:r>
            <a:r>
              <a:rPr lang="en" sz="2300"/>
              <a:t>:</a:t>
            </a:r>
            <a:endParaRPr sz="2300"/>
          </a:p>
          <a:p>
            <a:pPr indent="-374650" lvl="1" marL="914400" rtl="0" algn="l">
              <a:lnSpc>
                <a:spcPct val="115000"/>
              </a:lnSpc>
              <a:spcBef>
                <a:spcPts val="0"/>
              </a:spcBef>
              <a:spcAft>
                <a:spcPts val="0"/>
              </a:spcAft>
              <a:buSzPts val="2300"/>
              <a:buAutoNum type="arabicPeriod"/>
            </a:pPr>
            <a:r>
              <a:rPr b="1" lang="en" sz="2300"/>
              <a:t>Mouse Events</a:t>
            </a:r>
            <a:r>
              <a:rPr lang="en" sz="2300"/>
              <a:t>: </a:t>
            </a:r>
            <a:r>
              <a:rPr lang="en" sz="2300">
                <a:solidFill>
                  <a:srgbClr val="188038"/>
                </a:solidFill>
                <a:latin typeface="Roboto Mono"/>
                <a:ea typeface="Roboto Mono"/>
                <a:cs typeface="Roboto Mono"/>
                <a:sym typeface="Roboto Mono"/>
              </a:rPr>
              <a:t>click</a:t>
            </a:r>
            <a:r>
              <a:rPr lang="en" sz="2300"/>
              <a:t>, </a:t>
            </a:r>
            <a:r>
              <a:rPr lang="en" sz="2300">
                <a:solidFill>
                  <a:srgbClr val="188038"/>
                </a:solidFill>
                <a:latin typeface="Roboto Mono"/>
                <a:ea typeface="Roboto Mono"/>
                <a:cs typeface="Roboto Mono"/>
                <a:sym typeface="Roboto Mono"/>
              </a:rPr>
              <a:t>dblclick</a:t>
            </a:r>
            <a:r>
              <a:rPr lang="en" sz="2300"/>
              <a:t>, </a:t>
            </a:r>
            <a:r>
              <a:rPr lang="en" sz="2300">
                <a:solidFill>
                  <a:srgbClr val="188038"/>
                </a:solidFill>
                <a:latin typeface="Roboto Mono"/>
                <a:ea typeface="Roboto Mono"/>
                <a:cs typeface="Roboto Mono"/>
                <a:sym typeface="Roboto Mono"/>
              </a:rPr>
              <a:t>mousemove</a:t>
            </a:r>
            <a:r>
              <a:rPr lang="en" sz="2300"/>
              <a:t>, </a:t>
            </a:r>
            <a:r>
              <a:rPr lang="en" sz="2300">
                <a:solidFill>
                  <a:srgbClr val="188038"/>
                </a:solidFill>
                <a:latin typeface="Roboto Mono"/>
                <a:ea typeface="Roboto Mono"/>
                <a:cs typeface="Roboto Mono"/>
                <a:sym typeface="Roboto Mono"/>
              </a:rPr>
              <a:t>mouseenter</a:t>
            </a:r>
            <a:endParaRPr sz="2300">
              <a:solidFill>
                <a:srgbClr val="188038"/>
              </a:solidFill>
              <a:latin typeface="Roboto Mono"/>
              <a:ea typeface="Roboto Mono"/>
              <a:cs typeface="Roboto Mono"/>
              <a:sym typeface="Roboto Mono"/>
            </a:endParaRPr>
          </a:p>
          <a:p>
            <a:pPr indent="-374650" lvl="1" marL="914400" rtl="0" algn="l">
              <a:lnSpc>
                <a:spcPct val="115000"/>
              </a:lnSpc>
              <a:spcBef>
                <a:spcPts val="0"/>
              </a:spcBef>
              <a:spcAft>
                <a:spcPts val="0"/>
              </a:spcAft>
              <a:buSzPts val="2300"/>
              <a:buAutoNum type="arabicPeriod"/>
            </a:pPr>
            <a:r>
              <a:rPr b="1" lang="en" sz="2300"/>
              <a:t>Keyboard Events</a:t>
            </a:r>
            <a:r>
              <a:rPr lang="en" sz="2300"/>
              <a:t>: </a:t>
            </a:r>
            <a:r>
              <a:rPr lang="en" sz="2300">
                <a:solidFill>
                  <a:srgbClr val="188038"/>
                </a:solidFill>
                <a:latin typeface="Roboto Mono"/>
                <a:ea typeface="Roboto Mono"/>
                <a:cs typeface="Roboto Mono"/>
                <a:sym typeface="Roboto Mono"/>
              </a:rPr>
              <a:t>keydown</a:t>
            </a:r>
            <a:r>
              <a:rPr lang="en" sz="2300"/>
              <a:t>, </a:t>
            </a:r>
            <a:r>
              <a:rPr lang="en" sz="2300">
                <a:solidFill>
                  <a:srgbClr val="188038"/>
                </a:solidFill>
                <a:latin typeface="Roboto Mono"/>
                <a:ea typeface="Roboto Mono"/>
                <a:cs typeface="Roboto Mono"/>
                <a:sym typeface="Roboto Mono"/>
              </a:rPr>
              <a:t>keyup</a:t>
            </a:r>
            <a:r>
              <a:rPr lang="en" sz="2300"/>
              <a:t>, </a:t>
            </a:r>
            <a:r>
              <a:rPr lang="en" sz="2300">
                <a:solidFill>
                  <a:srgbClr val="188038"/>
                </a:solidFill>
                <a:latin typeface="Roboto Mono"/>
                <a:ea typeface="Roboto Mono"/>
                <a:cs typeface="Roboto Mono"/>
                <a:sym typeface="Roboto Mono"/>
              </a:rPr>
              <a:t>keypress</a:t>
            </a:r>
            <a:endParaRPr sz="2300">
              <a:solidFill>
                <a:srgbClr val="188038"/>
              </a:solidFill>
              <a:latin typeface="Roboto Mono"/>
              <a:ea typeface="Roboto Mono"/>
              <a:cs typeface="Roboto Mono"/>
              <a:sym typeface="Roboto Mono"/>
            </a:endParaRPr>
          </a:p>
          <a:p>
            <a:pPr indent="-374650" lvl="1" marL="914400" rtl="0" algn="l">
              <a:lnSpc>
                <a:spcPct val="115000"/>
              </a:lnSpc>
              <a:spcBef>
                <a:spcPts val="0"/>
              </a:spcBef>
              <a:spcAft>
                <a:spcPts val="0"/>
              </a:spcAft>
              <a:buSzPts val="2300"/>
              <a:buAutoNum type="arabicPeriod"/>
            </a:pPr>
            <a:r>
              <a:rPr b="1" lang="en" sz="2300"/>
              <a:t>Form Events</a:t>
            </a:r>
            <a:r>
              <a:rPr lang="en" sz="2300"/>
              <a:t>: </a:t>
            </a:r>
            <a:r>
              <a:rPr lang="en" sz="2300">
                <a:solidFill>
                  <a:srgbClr val="188038"/>
                </a:solidFill>
                <a:latin typeface="Roboto Mono"/>
                <a:ea typeface="Roboto Mono"/>
                <a:cs typeface="Roboto Mono"/>
                <a:sym typeface="Roboto Mono"/>
              </a:rPr>
              <a:t>submit</a:t>
            </a:r>
            <a:r>
              <a:rPr lang="en" sz="2300"/>
              <a:t>, </a:t>
            </a:r>
            <a:r>
              <a:rPr lang="en" sz="2300">
                <a:solidFill>
                  <a:srgbClr val="188038"/>
                </a:solidFill>
                <a:latin typeface="Roboto Mono"/>
                <a:ea typeface="Roboto Mono"/>
                <a:cs typeface="Roboto Mono"/>
                <a:sym typeface="Roboto Mono"/>
              </a:rPr>
              <a:t>focus</a:t>
            </a:r>
            <a:r>
              <a:rPr lang="en" sz="2300"/>
              <a:t>, </a:t>
            </a:r>
            <a:r>
              <a:rPr lang="en" sz="2300">
                <a:solidFill>
                  <a:srgbClr val="188038"/>
                </a:solidFill>
                <a:latin typeface="Roboto Mono"/>
                <a:ea typeface="Roboto Mono"/>
                <a:cs typeface="Roboto Mono"/>
                <a:sym typeface="Roboto Mono"/>
              </a:rPr>
              <a:t>blur</a:t>
            </a:r>
            <a:r>
              <a:rPr lang="en" sz="2300"/>
              <a:t>, </a:t>
            </a:r>
            <a:r>
              <a:rPr lang="en" sz="2300">
                <a:solidFill>
                  <a:srgbClr val="188038"/>
                </a:solidFill>
                <a:latin typeface="Roboto Mono"/>
                <a:ea typeface="Roboto Mono"/>
                <a:cs typeface="Roboto Mono"/>
                <a:sym typeface="Roboto Mono"/>
              </a:rPr>
              <a:t>change</a:t>
            </a:r>
            <a:endParaRPr sz="2300">
              <a:solidFill>
                <a:srgbClr val="188038"/>
              </a:solidFill>
              <a:latin typeface="Roboto Mono"/>
              <a:ea typeface="Roboto Mono"/>
              <a:cs typeface="Roboto Mono"/>
              <a:sym typeface="Roboto Mono"/>
            </a:endParaRPr>
          </a:p>
          <a:p>
            <a:pPr indent="-374650" lvl="1" marL="914400" rtl="0" algn="l">
              <a:lnSpc>
                <a:spcPct val="115000"/>
              </a:lnSpc>
              <a:spcBef>
                <a:spcPts val="0"/>
              </a:spcBef>
              <a:spcAft>
                <a:spcPts val="0"/>
              </a:spcAft>
              <a:buSzPts val="2300"/>
              <a:buAutoNum type="arabicPeriod"/>
            </a:pPr>
            <a:r>
              <a:rPr b="1" lang="en" sz="2300"/>
              <a:t>Window Events</a:t>
            </a:r>
            <a:r>
              <a:rPr lang="en" sz="2300"/>
              <a:t>: </a:t>
            </a:r>
            <a:r>
              <a:rPr lang="en" sz="2300">
                <a:solidFill>
                  <a:srgbClr val="188038"/>
                </a:solidFill>
                <a:latin typeface="Roboto Mono"/>
                <a:ea typeface="Roboto Mono"/>
                <a:cs typeface="Roboto Mono"/>
                <a:sym typeface="Roboto Mono"/>
              </a:rPr>
              <a:t>load</a:t>
            </a:r>
            <a:r>
              <a:rPr lang="en" sz="2300"/>
              <a:t>, </a:t>
            </a:r>
            <a:r>
              <a:rPr lang="en" sz="2300">
                <a:solidFill>
                  <a:srgbClr val="188038"/>
                </a:solidFill>
                <a:latin typeface="Roboto Mono"/>
                <a:ea typeface="Roboto Mono"/>
                <a:cs typeface="Roboto Mono"/>
                <a:sym typeface="Roboto Mono"/>
              </a:rPr>
              <a:t>resize</a:t>
            </a:r>
            <a:r>
              <a:rPr lang="en" sz="2300"/>
              <a:t>, </a:t>
            </a:r>
            <a:r>
              <a:rPr lang="en" sz="2300">
                <a:solidFill>
                  <a:srgbClr val="188038"/>
                </a:solidFill>
                <a:latin typeface="Roboto Mono"/>
                <a:ea typeface="Roboto Mono"/>
                <a:cs typeface="Roboto Mono"/>
                <a:sym typeface="Roboto Mono"/>
              </a:rPr>
              <a:t>scroll</a:t>
            </a:r>
            <a:endParaRPr sz="2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1200"/>
              </a:spcAft>
              <a:buSzPts val="1500"/>
              <a:buNone/>
            </a:pPr>
            <a:r>
              <a:t/>
            </a:r>
            <a:endParaRPr sz="2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Event Propagation: Capturing vs. Bubbling</a:t>
            </a:r>
            <a:endParaRPr/>
          </a:p>
        </p:txBody>
      </p:sp>
      <p:sp>
        <p:nvSpPr>
          <p:cNvPr id="178" name="Google Shape;178;p16"/>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617"/>
              <a:t>Event Propagation</a:t>
            </a:r>
            <a:r>
              <a:rPr lang="en" sz="1617"/>
              <a:t>:</a:t>
            </a:r>
            <a:endParaRPr sz="1617"/>
          </a:p>
          <a:p>
            <a:pPr indent="-331310" lvl="0" marL="457200" rtl="0" algn="l">
              <a:lnSpc>
                <a:spcPct val="95000"/>
              </a:lnSpc>
              <a:spcBef>
                <a:spcPts val="1200"/>
              </a:spcBef>
              <a:spcAft>
                <a:spcPts val="0"/>
              </a:spcAft>
              <a:buSzPts val="1617"/>
              <a:buChar char="●"/>
            </a:pPr>
            <a:r>
              <a:rPr lang="en" sz="1617"/>
              <a:t>When an event occurs, it doesn’t only affect the element that the event was triggered on, but can also affect its ancestors in the DOM tree.</a:t>
            </a:r>
            <a:endParaRPr sz="1617"/>
          </a:p>
          <a:p>
            <a:pPr indent="0" lvl="0" marL="0" rtl="0" algn="l">
              <a:lnSpc>
                <a:spcPct val="95000"/>
              </a:lnSpc>
              <a:spcBef>
                <a:spcPts val="1200"/>
              </a:spcBef>
              <a:spcAft>
                <a:spcPts val="0"/>
              </a:spcAft>
              <a:buSzPts val="1018"/>
              <a:buNone/>
            </a:pPr>
            <a:r>
              <a:rPr b="1" lang="en" sz="1617"/>
              <a:t>Event Bubbling</a:t>
            </a:r>
            <a:r>
              <a:rPr lang="en" sz="1617"/>
              <a:t>:</a:t>
            </a:r>
            <a:endParaRPr sz="1617"/>
          </a:p>
          <a:p>
            <a:pPr indent="-331310" lvl="0" marL="457200" rtl="0" algn="l">
              <a:lnSpc>
                <a:spcPct val="95000"/>
              </a:lnSpc>
              <a:spcBef>
                <a:spcPts val="1200"/>
              </a:spcBef>
              <a:spcAft>
                <a:spcPts val="0"/>
              </a:spcAft>
              <a:buSzPts val="1617"/>
              <a:buChar char="●"/>
            </a:pPr>
            <a:r>
              <a:rPr b="1" lang="en" sz="1617"/>
              <a:t>Bubbling</a:t>
            </a:r>
            <a:r>
              <a:rPr lang="en" sz="1617"/>
              <a:t> happens when an event starts from the innermost element (where it was triggered) and propagates outward to its parent elements.</a:t>
            </a:r>
            <a:endParaRPr sz="1617"/>
          </a:p>
          <a:p>
            <a:pPr indent="0" lvl="0" marL="0" rtl="0" algn="l">
              <a:lnSpc>
                <a:spcPct val="95000"/>
              </a:lnSpc>
              <a:spcBef>
                <a:spcPts val="1200"/>
              </a:spcBef>
              <a:spcAft>
                <a:spcPts val="0"/>
              </a:spcAft>
              <a:buSzPts val="1018"/>
              <a:buNone/>
            </a:pPr>
            <a:r>
              <a:rPr b="1" lang="en" sz="1617"/>
              <a:t>Event Capturing</a:t>
            </a:r>
            <a:r>
              <a:rPr lang="en" sz="1617"/>
              <a:t>:</a:t>
            </a:r>
            <a:endParaRPr sz="1617"/>
          </a:p>
          <a:p>
            <a:pPr indent="-331310" lvl="0" marL="457200" rtl="0" algn="l">
              <a:lnSpc>
                <a:spcPct val="95000"/>
              </a:lnSpc>
              <a:spcBef>
                <a:spcPts val="1200"/>
              </a:spcBef>
              <a:spcAft>
                <a:spcPts val="0"/>
              </a:spcAft>
              <a:buSzPts val="1617"/>
              <a:buChar char="●"/>
            </a:pPr>
            <a:r>
              <a:rPr b="1" lang="en" sz="1617"/>
              <a:t>Capturing</a:t>
            </a:r>
            <a:r>
              <a:rPr lang="en" sz="1617"/>
              <a:t> is the reverse of bubbling. It starts from the root of the document and propagates down to the target element.</a:t>
            </a:r>
            <a:endParaRPr sz="1617"/>
          </a:p>
          <a:p>
            <a:pPr indent="0" lvl="0" marL="0" rtl="0" algn="l">
              <a:lnSpc>
                <a:spcPct val="95000"/>
              </a:lnSpc>
              <a:spcBef>
                <a:spcPts val="1200"/>
              </a:spcBef>
              <a:spcAft>
                <a:spcPts val="0"/>
              </a:spcAft>
              <a:buSzPts val="1018"/>
              <a:buNone/>
            </a:pPr>
            <a:r>
              <a:t/>
            </a:r>
            <a:endParaRPr sz="1617"/>
          </a:p>
          <a:p>
            <a:pPr indent="0" lvl="0" marL="0" rtl="0" algn="l">
              <a:lnSpc>
                <a:spcPct val="95000"/>
              </a:lnSpc>
              <a:spcBef>
                <a:spcPts val="0"/>
              </a:spcBef>
              <a:spcAft>
                <a:spcPts val="1200"/>
              </a:spcAft>
              <a:buSzPts val="1018"/>
              <a:buNone/>
            </a:pPr>
            <a:r>
              <a:t/>
            </a:r>
            <a:endParaRPr sz="1987"/>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7"/>
          <p:cNvPicPr preferRelativeResize="0"/>
          <p:nvPr/>
        </p:nvPicPr>
        <p:blipFill rotWithShape="1">
          <a:blip r:embed="rId3">
            <a:alphaModFix/>
          </a:blip>
          <a:srcRect b="0" l="0" r="0" t="0"/>
          <a:stretch/>
        </p:blipFill>
        <p:spPr>
          <a:xfrm>
            <a:off x="152400" y="1293900"/>
            <a:ext cx="8660866" cy="2419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Preventing Default Behavior</a:t>
            </a:r>
            <a:endParaRPr/>
          </a:p>
        </p:txBody>
      </p:sp>
      <p:sp>
        <p:nvSpPr>
          <p:cNvPr id="189" name="Google Shape;189;p18"/>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500"/>
              <a:buNone/>
            </a:pPr>
            <a:r>
              <a:rPr b="1" lang="en" sz="2000">
                <a:solidFill>
                  <a:srgbClr val="188038"/>
                </a:solidFill>
                <a:latin typeface="Roboto Mono"/>
                <a:ea typeface="Roboto Mono"/>
                <a:cs typeface="Roboto Mono"/>
                <a:sym typeface="Roboto Mono"/>
              </a:rPr>
              <a:t>preventDefault()</a:t>
            </a:r>
            <a:r>
              <a:rPr lang="en" sz="2000"/>
              <a:t>:</a:t>
            </a:r>
            <a:endParaRPr sz="2000"/>
          </a:p>
          <a:p>
            <a:pPr indent="-355600" lvl="0" marL="457200" rtl="0" algn="l">
              <a:lnSpc>
                <a:spcPct val="115000"/>
              </a:lnSpc>
              <a:spcBef>
                <a:spcPts val="1200"/>
              </a:spcBef>
              <a:spcAft>
                <a:spcPts val="0"/>
              </a:spcAft>
              <a:buSzPts val="2000"/>
              <a:buChar char="●"/>
            </a:pPr>
            <a:r>
              <a:rPr lang="en" sz="2000"/>
              <a:t>You can use </a:t>
            </a:r>
            <a:r>
              <a:rPr lang="en" sz="2000">
                <a:solidFill>
                  <a:srgbClr val="188038"/>
                </a:solidFill>
                <a:latin typeface="Roboto Mono"/>
                <a:ea typeface="Roboto Mono"/>
                <a:cs typeface="Roboto Mono"/>
                <a:sym typeface="Roboto Mono"/>
              </a:rPr>
              <a:t>preventDefault()</a:t>
            </a:r>
            <a:r>
              <a:rPr lang="en" sz="2000"/>
              <a:t> to stop the default behavior of an event (e.g., preventing a form from submitting).</a:t>
            </a:r>
            <a:endParaRPr sz="2000"/>
          </a:p>
          <a:p>
            <a:pPr indent="0" lvl="0" marL="0" rtl="0" algn="l">
              <a:lnSpc>
                <a:spcPct val="115000"/>
              </a:lnSpc>
              <a:spcBef>
                <a:spcPts val="1200"/>
              </a:spcBef>
              <a:spcAft>
                <a:spcPts val="1200"/>
              </a:spcAft>
              <a:buSzPts val="1500"/>
              <a:buNone/>
            </a:pPr>
            <a:r>
              <a:t/>
            </a:r>
            <a:endParaRPr sz="2400"/>
          </a:p>
        </p:txBody>
      </p:sp>
      <p:pic>
        <p:nvPicPr>
          <p:cNvPr id="190" name="Google Shape;190;p18"/>
          <p:cNvPicPr preferRelativeResize="0"/>
          <p:nvPr/>
        </p:nvPicPr>
        <p:blipFill rotWithShape="1">
          <a:blip r:embed="rId3">
            <a:alphaModFix/>
          </a:blip>
          <a:srcRect b="0" l="0" r="0" t="0"/>
          <a:stretch/>
        </p:blipFill>
        <p:spPr>
          <a:xfrm>
            <a:off x="909254" y="3360104"/>
            <a:ext cx="5575500" cy="1642800"/>
          </a:xfrm>
          <a:prstGeom prst="roundRect">
            <a:avLst>
              <a:gd fmla="val 16667"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Best Practices for Event Handling</a:t>
            </a:r>
            <a:endParaRPr/>
          </a:p>
        </p:txBody>
      </p:sp>
      <p:sp>
        <p:nvSpPr>
          <p:cNvPr id="196" name="Google Shape;196;p19"/>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500"/>
              <a:buNone/>
            </a:pPr>
            <a:r>
              <a:rPr b="1" lang="en" sz="2000"/>
              <a:t>Use Event Delegation</a:t>
            </a:r>
            <a:r>
              <a:rPr lang="en" sz="2000"/>
              <a:t>: Instead of adding event listeners to every individual element, attach a listener to a common parent element and use event delegation to catch events on child elements.</a:t>
            </a:r>
            <a:endParaRPr sz="2000"/>
          </a:p>
          <a:p>
            <a:pPr indent="0" lvl="0" marL="0" rtl="0" algn="l">
              <a:lnSpc>
                <a:spcPct val="115000"/>
              </a:lnSpc>
              <a:spcBef>
                <a:spcPts val="1200"/>
              </a:spcBef>
              <a:spcAft>
                <a:spcPts val="1200"/>
              </a:spcAft>
              <a:buSzPts val="1500"/>
              <a:buNone/>
            </a:pPr>
            <a:r>
              <a:t/>
            </a:r>
            <a:endParaRPr sz="2400"/>
          </a:p>
        </p:txBody>
      </p:sp>
      <p:pic>
        <p:nvPicPr>
          <p:cNvPr id="197" name="Google Shape;197;p19"/>
          <p:cNvPicPr preferRelativeResize="0"/>
          <p:nvPr/>
        </p:nvPicPr>
        <p:blipFill rotWithShape="1">
          <a:blip r:embed="rId3">
            <a:alphaModFix/>
          </a:blip>
          <a:srcRect b="0" l="0" r="0" t="0"/>
          <a:stretch/>
        </p:blipFill>
        <p:spPr>
          <a:xfrm>
            <a:off x="471900" y="3188650"/>
            <a:ext cx="8222100" cy="1838100"/>
          </a:xfrm>
          <a:prstGeom prst="roundRect">
            <a:avLst>
              <a:gd fmla="val 16667" name="adj"/>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Real-World Example</a:t>
            </a:r>
            <a:endParaRPr/>
          </a:p>
        </p:txBody>
      </p:sp>
      <p:sp>
        <p:nvSpPr>
          <p:cNvPr id="203" name="Google Shape;203;p20"/>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500"/>
              <a:buNone/>
            </a:pPr>
            <a:r>
              <a:rPr b="1" lang="en" sz="2000"/>
              <a:t>Case Study</a:t>
            </a:r>
            <a:r>
              <a:rPr lang="en" sz="2000"/>
              <a:t>: A </a:t>
            </a:r>
            <a:r>
              <a:rPr b="1" lang="en" sz="2000"/>
              <a:t>photo gallery</a:t>
            </a:r>
            <a:r>
              <a:rPr lang="en" sz="2000"/>
              <a:t> where clicking on a thumbnail dynamically updates the larger image.</a:t>
            </a:r>
            <a:endParaRPr sz="2000"/>
          </a:p>
          <a:p>
            <a:pPr indent="-355600" lvl="0" marL="457200" rtl="0" algn="l">
              <a:lnSpc>
                <a:spcPct val="115000"/>
              </a:lnSpc>
              <a:spcBef>
                <a:spcPts val="1200"/>
              </a:spcBef>
              <a:spcAft>
                <a:spcPts val="0"/>
              </a:spcAft>
              <a:buSzPts val="2000"/>
              <a:buChar char="●"/>
            </a:pPr>
            <a:r>
              <a:rPr b="1" lang="en" sz="2000"/>
              <a:t>DOM Manipulation</a:t>
            </a:r>
            <a:r>
              <a:rPr lang="en" sz="2000"/>
              <a:t>: Changing the </a:t>
            </a:r>
            <a:r>
              <a:rPr lang="en" sz="2000">
                <a:solidFill>
                  <a:srgbClr val="188038"/>
                </a:solidFill>
                <a:latin typeface="Roboto Mono"/>
                <a:ea typeface="Roboto Mono"/>
                <a:cs typeface="Roboto Mono"/>
                <a:sym typeface="Roboto Mono"/>
              </a:rPr>
              <a:t>src</a:t>
            </a:r>
            <a:r>
              <a:rPr lang="en" sz="2000"/>
              <a:t> attribute of an </a:t>
            </a:r>
            <a:r>
              <a:rPr lang="en" sz="2000">
                <a:solidFill>
                  <a:srgbClr val="188038"/>
                </a:solidFill>
                <a:latin typeface="Roboto Mono"/>
                <a:ea typeface="Roboto Mono"/>
                <a:cs typeface="Roboto Mono"/>
                <a:sym typeface="Roboto Mono"/>
              </a:rPr>
              <a:t>&lt;img&gt;</a:t>
            </a:r>
            <a:r>
              <a:rPr lang="en" sz="2000"/>
              <a:t> element based on user interaction.</a:t>
            </a:r>
            <a:endParaRPr sz="2000"/>
          </a:p>
          <a:p>
            <a:pPr indent="-355600" lvl="0" marL="457200" rtl="0" algn="l">
              <a:lnSpc>
                <a:spcPct val="115000"/>
              </a:lnSpc>
              <a:spcBef>
                <a:spcPts val="0"/>
              </a:spcBef>
              <a:spcAft>
                <a:spcPts val="0"/>
              </a:spcAft>
              <a:buSzPts val="2000"/>
              <a:buChar char="●"/>
            </a:pPr>
            <a:r>
              <a:rPr b="1" lang="en" sz="2000"/>
              <a:t>Event Handling</a:t>
            </a:r>
            <a:r>
              <a:rPr lang="en" sz="2000"/>
              <a:t>: Using </a:t>
            </a:r>
            <a:r>
              <a:rPr lang="en" sz="2000">
                <a:solidFill>
                  <a:srgbClr val="188038"/>
                </a:solidFill>
                <a:latin typeface="Roboto Mono"/>
                <a:ea typeface="Roboto Mono"/>
                <a:cs typeface="Roboto Mono"/>
                <a:sym typeface="Roboto Mono"/>
              </a:rPr>
              <a:t>click</a:t>
            </a:r>
            <a:r>
              <a:rPr lang="en" sz="2000"/>
              <a:t> events to update the image dynamically without reloading the page.</a:t>
            </a:r>
            <a:endParaRPr sz="2000"/>
          </a:p>
          <a:p>
            <a:pPr indent="0" lvl="0" marL="0" rtl="0" algn="l">
              <a:lnSpc>
                <a:spcPct val="115000"/>
              </a:lnSpc>
              <a:spcBef>
                <a:spcPts val="1200"/>
              </a:spcBef>
              <a:spcAft>
                <a:spcPts val="1200"/>
              </a:spcAft>
              <a:buSzPts val="1500"/>
              <a:buNone/>
            </a:pPr>
            <a:r>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Summary of Key Points</a:t>
            </a:r>
            <a:endParaRPr/>
          </a:p>
        </p:txBody>
      </p:sp>
      <p:sp>
        <p:nvSpPr>
          <p:cNvPr id="209" name="Google Shape;209;p2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1200"/>
              </a:spcBef>
              <a:spcAft>
                <a:spcPts val="0"/>
              </a:spcAft>
              <a:buSzPts val="2100"/>
              <a:buChar char="●"/>
            </a:pPr>
            <a:r>
              <a:rPr b="1" lang="en" sz="2100"/>
              <a:t>DOM Manipulation</a:t>
            </a:r>
            <a:r>
              <a:rPr lang="en" sz="2100"/>
              <a:t>: You can dynamically create, update, and remove elements using JavaScript.</a:t>
            </a:r>
            <a:endParaRPr sz="2100"/>
          </a:p>
          <a:p>
            <a:pPr indent="-361950" lvl="0" marL="457200" rtl="0" algn="l">
              <a:lnSpc>
                <a:spcPct val="115000"/>
              </a:lnSpc>
              <a:spcBef>
                <a:spcPts val="0"/>
              </a:spcBef>
              <a:spcAft>
                <a:spcPts val="0"/>
              </a:spcAft>
              <a:buSzPts val="2100"/>
              <a:buChar char="●"/>
            </a:pPr>
            <a:r>
              <a:rPr b="1" lang="en" sz="2100"/>
              <a:t>Event Handling</a:t>
            </a:r>
            <a:r>
              <a:rPr lang="en" sz="2100"/>
              <a:t>: Use </a:t>
            </a:r>
            <a:r>
              <a:rPr lang="en" sz="2100">
                <a:solidFill>
                  <a:srgbClr val="188038"/>
                </a:solidFill>
                <a:latin typeface="Roboto Mono"/>
                <a:ea typeface="Roboto Mono"/>
                <a:cs typeface="Roboto Mono"/>
                <a:sym typeface="Roboto Mono"/>
              </a:rPr>
              <a:t>addEventListener()</a:t>
            </a:r>
            <a:r>
              <a:rPr lang="en" sz="2100"/>
              <a:t> to respond to user interactions, and understand event propagation (bubbling vs. capturing).</a:t>
            </a:r>
            <a:endParaRPr sz="2100"/>
          </a:p>
          <a:p>
            <a:pPr indent="-361950" lvl="0" marL="457200" rtl="0" algn="l">
              <a:lnSpc>
                <a:spcPct val="115000"/>
              </a:lnSpc>
              <a:spcBef>
                <a:spcPts val="0"/>
              </a:spcBef>
              <a:spcAft>
                <a:spcPts val="0"/>
              </a:spcAft>
              <a:buSzPts val="2100"/>
              <a:buChar char="●"/>
            </a:pPr>
            <a:r>
              <a:rPr b="1" lang="en" sz="2100"/>
              <a:t>Event Delegation</a:t>
            </a:r>
            <a:r>
              <a:rPr lang="en" sz="2100"/>
              <a:t>: Improve performance by delegating events to a parent element.</a:t>
            </a:r>
            <a:endParaRPr sz="2100"/>
          </a:p>
          <a:p>
            <a:pPr indent="0" lvl="0" marL="0" rtl="0" algn="l">
              <a:lnSpc>
                <a:spcPct val="115000"/>
              </a:lnSpc>
              <a:spcBef>
                <a:spcPts val="1200"/>
              </a:spcBef>
              <a:spcAft>
                <a:spcPts val="1200"/>
              </a:spcAft>
              <a:buSzPts val="1500"/>
              <a:buNone/>
            </a:pPr>
            <a:r>
              <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6000"/>
              <a:buNone/>
            </a:pPr>
            <a:r>
              <a:rPr lang="en"/>
              <a:t>Coding Lab</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Introduction to the Coding Lab</a:t>
            </a:r>
            <a:endParaRPr/>
          </a:p>
        </p:txBody>
      </p:sp>
      <p:sp>
        <p:nvSpPr>
          <p:cNvPr id="220" name="Google Shape;220;p2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200"/>
              </a:spcBef>
              <a:spcAft>
                <a:spcPts val="0"/>
              </a:spcAft>
              <a:buSzPts val="2200"/>
              <a:buChar char="●"/>
            </a:pPr>
            <a:r>
              <a:rPr b="1" lang="en" sz="2200"/>
              <a:t>Objective</a:t>
            </a:r>
            <a:r>
              <a:rPr lang="en" sz="2200"/>
              <a:t>: In this lab, you will enhance the interactivity of your website using JavaScript.</a:t>
            </a:r>
            <a:endParaRPr sz="2200"/>
          </a:p>
          <a:p>
            <a:pPr indent="-368300" lvl="1" marL="914400" rtl="0" algn="l">
              <a:lnSpc>
                <a:spcPct val="115000"/>
              </a:lnSpc>
              <a:spcBef>
                <a:spcPts val="0"/>
              </a:spcBef>
              <a:spcAft>
                <a:spcPts val="0"/>
              </a:spcAft>
              <a:buSzPts val="2200"/>
              <a:buChar char="○"/>
            </a:pPr>
            <a:r>
              <a:rPr lang="en" sz="2200"/>
              <a:t>Focus on </a:t>
            </a:r>
            <a:r>
              <a:rPr b="1" lang="en" sz="2200"/>
              <a:t>DOM manipulation</a:t>
            </a:r>
            <a:r>
              <a:rPr lang="en" sz="2200"/>
              <a:t> and </a:t>
            </a:r>
            <a:r>
              <a:rPr b="1" lang="en" sz="2200"/>
              <a:t>event handling</a:t>
            </a:r>
            <a:r>
              <a:rPr lang="en" sz="2200"/>
              <a:t>.</a:t>
            </a:r>
            <a:endParaRPr sz="2200"/>
          </a:p>
          <a:p>
            <a:pPr indent="-368300" lvl="1" marL="914400" rtl="0" algn="l">
              <a:lnSpc>
                <a:spcPct val="115000"/>
              </a:lnSpc>
              <a:spcBef>
                <a:spcPts val="0"/>
              </a:spcBef>
              <a:spcAft>
                <a:spcPts val="0"/>
              </a:spcAft>
              <a:buSzPts val="2200"/>
              <a:buChar char="○"/>
            </a:pPr>
            <a:r>
              <a:rPr lang="en" sz="2200"/>
              <a:t>Tasks include adding </a:t>
            </a:r>
            <a:r>
              <a:rPr b="1" lang="en" sz="2200"/>
              <a:t>form validation</a:t>
            </a:r>
            <a:r>
              <a:rPr lang="en" sz="2200"/>
              <a:t>, providing </a:t>
            </a:r>
            <a:r>
              <a:rPr b="1" lang="en" sz="2200"/>
              <a:t>user feedback</a:t>
            </a:r>
            <a:r>
              <a:rPr lang="en" sz="2200"/>
              <a:t>, and dynamically updating content based on user input.</a:t>
            </a:r>
            <a:endParaRPr sz="2200"/>
          </a:p>
          <a:p>
            <a:pPr indent="0" lvl="0" marL="0" rtl="0" algn="l">
              <a:lnSpc>
                <a:spcPct val="115000"/>
              </a:lnSpc>
              <a:spcBef>
                <a:spcPts val="1200"/>
              </a:spcBef>
              <a:spcAft>
                <a:spcPts val="1200"/>
              </a:spcAft>
              <a:buSzPts val="1500"/>
              <a:buNone/>
            </a:pPr>
            <a:r>
              <a:t/>
            </a:r>
            <a:endParaRPr sz="2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Task 1 - Create a Dynamic Form Validation</a:t>
            </a:r>
            <a:endParaRPr/>
          </a:p>
        </p:txBody>
      </p:sp>
      <p:sp>
        <p:nvSpPr>
          <p:cNvPr id="226" name="Google Shape;226;p24"/>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500"/>
              <a:buNone/>
            </a:pPr>
            <a:r>
              <a:rPr b="1" lang="en" sz="2200"/>
              <a:t>Objective</a:t>
            </a:r>
            <a:r>
              <a:rPr lang="en" sz="2200"/>
              <a:t>: Add a form to your webpage and use JavaScript to validate user input.</a:t>
            </a:r>
            <a:endParaRPr sz="2200"/>
          </a:p>
          <a:p>
            <a:pPr indent="-368300" lvl="0" marL="457200" rtl="0" algn="l">
              <a:lnSpc>
                <a:spcPct val="115000"/>
              </a:lnSpc>
              <a:spcBef>
                <a:spcPts val="1200"/>
              </a:spcBef>
              <a:spcAft>
                <a:spcPts val="0"/>
              </a:spcAft>
              <a:buSzPts val="2200"/>
              <a:buChar char="●"/>
            </a:pPr>
            <a:r>
              <a:rPr lang="en" sz="2200"/>
              <a:t>Use </a:t>
            </a:r>
            <a:r>
              <a:rPr lang="en" sz="2200">
                <a:solidFill>
                  <a:srgbClr val="188038"/>
                </a:solidFill>
                <a:latin typeface="Roboto Mono"/>
                <a:ea typeface="Roboto Mono"/>
                <a:cs typeface="Roboto Mono"/>
                <a:sym typeface="Roboto Mono"/>
              </a:rPr>
              <a:t>input</a:t>
            </a:r>
            <a:r>
              <a:rPr lang="en" sz="2200"/>
              <a:t> elements for text and email fields.</a:t>
            </a:r>
            <a:endParaRPr sz="2200"/>
          </a:p>
          <a:p>
            <a:pPr indent="-368300" lvl="0" marL="457200" rtl="0" algn="l">
              <a:lnSpc>
                <a:spcPct val="115000"/>
              </a:lnSpc>
              <a:spcBef>
                <a:spcPts val="0"/>
              </a:spcBef>
              <a:spcAft>
                <a:spcPts val="0"/>
              </a:spcAft>
              <a:buSzPts val="2200"/>
              <a:buChar char="●"/>
            </a:pPr>
            <a:r>
              <a:rPr lang="en" sz="2200"/>
              <a:t>Use JavaScript to ensure fields are filled out correctly before submission.</a:t>
            </a:r>
            <a:endParaRPr sz="2200"/>
          </a:p>
          <a:p>
            <a:pPr indent="0" lvl="0" marL="0" rtl="0" algn="l">
              <a:lnSpc>
                <a:spcPct val="115000"/>
              </a:lnSpc>
              <a:spcBef>
                <a:spcPts val="1200"/>
              </a:spcBef>
              <a:spcAft>
                <a:spcPts val="1200"/>
              </a:spcAft>
              <a:buSzPts val="1500"/>
              <a:buNone/>
            </a:pPr>
            <a:r>
              <a:t/>
            </a:r>
            <a:endParaRPr sz="2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25"/>
          <p:cNvPicPr preferRelativeResize="0"/>
          <p:nvPr/>
        </p:nvPicPr>
        <p:blipFill rotWithShape="1">
          <a:blip r:embed="rId3">
            <a:alphaModFix/>
          </a:blip>
          <a:srcRect b="0" l="0" r="0" t="0"/>
          <a:stretch/>
        </p:blipFill>
        <p:spPr>
          <a:xfrm>
            <a:off x="140375" y="200450"/>
            <a:ext cx="7711350" cy="3448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Task 2 - Provide User Feedback</a:t>
            </a:r>
            <a:endParaRPr/>
          </a:p>
        </p:txBody>
      </p:sp>
      <p:sp>
        <p:nvSpPr>
          <p:cNvPr id="237" name="Google Shape;237;p26"/>
          <p:cNvSpPr txBox="1"/>
          <p:nvPr>
            <p:ph idx="1" type="body"/>
          </p:nvPr>
        </p:nvSpPr>
        <p:spPr>
          <a:xfrm>
            <a:off x="471900" y="181092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500"/>
              <a:buNone/>
            </a:pPr>
            <a:r>
              <a:rPr b="1" lang="en" sz="2200"/>
              <a:t>Objective</a:t>
            </a:r>
            <a:r>
              <a:rPr lang="en" sz="2200"/>
              <a:t>: Show feedback when a user interacts with a form or clicks a button.</a:t>
            </a:r>
            <a:endParaRPr sz="2200"/>
          </a:p>
          <a:p>
            <a:pPr indent="-368300" lvl="0" marL="457200" rtl="0" algn="l">
              <a:lnSpc>
                <a:spcPct val="115000"/>
              </a:lnSpc>
              <a:spcBef>
                <a:spcPts val="1200"/>
              </a:spcBef>
              <a:spcAft>
                <a:spcPts val="0"/>
              </a:spcAft>
              <a:buSzPts val="2200"/>
              <a:buChar char="●"/>
            </a:pPr>
            <a:r>
              <a:rPr lang="en" sz="2200"/>
              <a:t>Change the color of a button when clicked.</a:t>
            </a:r>
            <a:endParaRPr sz="2200"/>
          </a:p>
          <a:p>
            <a:pPr indent="-368300" lvl="0" marL="457200" rtl="0" algn="l">
              <a:lnSpc>
                <a:spcPct val="115000"/>
              </a:lnSpc>
              <a:spcBef>
                <a:spcPts val="0"/>
              </a:spcBef>
              <a:spcAft>
                <a:spcPts val="0"/>
              </a:spcAft>
              <a:buSzPts val="2200"/>
              <a:buChar char="●"/>
            </a:pPr>
            <a:r>
              <a:rPr lang="en" sz="2200"/>
              <a:t>Display a success message when form validation passes.</a:t>
            </a:r>
            <a:endParaRPr sz="2200"/>
          </a:p>
          <a:p>
            <a:pPr indent="0" lvl="0" marL="0" rtl="0" algn="l">
              <a:lnSpc>
                <a:spcPct val="115000"/>
              </a:lnSpc>
              <a:spcBef>
                <a:spcPts val="1200"/>
              </a:spcBef>
              <a:spcAft>
                <a:spcPts val="1200"/>
              </a:spcAft>
              <a:buSzPts val="1500"/>
              <a:buNone/>
            </a:pPr>
            <a:r>
              <a:t/>
            </a:r>
            <a:endParaRPr sz="2600"/>
          </a:p>
        </p:txBody>
      </p:sp>
      <p:pic>
        <p:nvPicPr>
          <p:cNvPr id="238" name="Google Shape;238;p26"/>
          <p:cNvPicPr preferRelativeResize="0"/>
          <p:nvPr/>
        </p:nvPicPr>
        <p:blipFill rotWithShape="1">
          <a:blip r:embed="rId3">
            <a:alphaModFix/>
          </a:blip>
          <a:srcRect b="0" l="0" r="0" t="0"/>
          <a:stretch/>
        </p:blipFill>
        <p:spPr>
          <a:xfrm>
            <a:off x="491288" y="3653200"/>
            <a:ext cx="8161425" cy="1430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Task 3 - Update Content Dynamically</a:t>
            </a:r>
            <a:endParaRPr/>
          </a:p>
        </p:txBody>
      </p:sp>
      <p:sp>
        <p:nvSpPr>
          <p:cNvPr id="244" name="Google Shape;244;p27"/>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500"/>
              <a:buNone/>
            </a:pPr>
            <a:r>
              <a:rPr b="1" lang="en" sz="1900"/>
              <a:t>Objective</a:t>
            </a:r>
            <a:r>
              <a:rPr lang="en" sz="1900"/>
              <a:t>: Use JavaScript to update the content on your page based on user actions.</a:t>
            </a:r>
            <a:endParaRPr sz="1900"/>
          </a:p>
          <a:p>
            <a:pPr indent="-349250" lvl="0" marL="457200" rtl="0" algn="l">
              <a:lnSpc>
                <a:spcPct val="115000"/>
              </a:lnSpc>
              <a:spcBef>
                <a:spcPts val="1200"/>
              </a:spcBef>
              <a:spcAft>
                <a:spcPts val="0"/>
              </a:spcAft>
              <a:buSzPts val="1900"/>
              <a:buChar char="●"/>
            </a:pPr>
            <a:r>
              <a:rPr lang="en" sz="1900"/>
              <a:t>Change the text of a paragraph when a button is clicked.</a:t>
            </a:r>
            <a:endParaRPr sz="1900"/>
          </a:p>
          <a:p>
            <a:pPr indent="-349250" lvl="0" marL="457200" rtl="0" algn="l">
              <a:lnSpc>
                <a:spcPct val="115000"/>
              </a:lnSpc>
              <a:spcBef>
                <a:spcPts val="0"/>
              </a:spcBef>
              <a:spcAft>
                <a:spcPts val="0"/>
              </a:spcAft>
              <a:buSzPts val="1900"/>
              <a:buChar char="●"/>
            </a:pPr>
            <a:r>
              <a:rPr lang="en" sz="1900"/>
              <a:t>Dynamically load additional content, like an image or a list of items.</a:t>
            </a:r>
            <a:endParaRPr sz="1900"/>
          </a:p>
          <a:p>
            <a:pPr indent="0" lvl="0" marL="0" rtl="0" algn="l">
              <a:lnSpc>
                <a:spcPct val="115000"/>
              </a:lnSpc>
              <a:spcBef>
                <a:spcPts val="1200"/>
              </a:spcBef>
              <a:spcAft>
                <a:spcPts val="1200"/>
              </a:spcAft>
              <a:buSzPts val="1500"/>
              <a:buNone/>
            </a:pPr>
            <a:r>
              <a:t/>
            </a:r>
            <a:endParaRPr sz="2300"/>
          </a:p>
        </p:txBody>
      </p:sp>
      <p:pic>
        <p:nvPicPr>
          <p:cNvPr id="245" name="Google Shape;245;p27"/>
          <p:cNvPicPr preferRelativeResize="0"/>
          <p:nvPr/>
        </p:nvPicPr>
        <p:blipFill rotWithShape="1">
          <a:blip r:embed="rId3">
            <a:alphaModFix/>
          </a:blip>
          <a:srcRect b="0" l="0" r="0" t="0"/>
          <a:stretch/>
        </p:blipFill>
        <p:spPr>
          <a:xfrm>
            <a:off x="745025" y="3507428"/>
            <a:ext cx="7484700" cy="1527600"/>
          </a:xfrm>
          <a:prstGeom prst="roundRect">
            <a:avLst>
              <a:gd fmla="val 16667" name="adj"/>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6000"/>
              <a:buNone/>
            </a:pPr>
            <a:r>
              <a:rPr lang="en"/>
              <a:t>Final Project Instructions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Define Your Project Idea</a:t>
            </a:r>
            <a:endParaRPr/>
          </a:p>
        </p:txBody>
      </p:sp>
      <p:sp>
        <p:nvSpPr>
          <p:cNvPr id="256" name="Google Shape;256;p29"/>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500"/>
              <a:buNone/>
            </a:pPr>
            <a:r>
              <a:rPr lang="en" sz="3200"/>
              <a:t>Think about something you want to build that incorporates </a:t>
            </a:r>
            <a:r>
              <a:rPr b="1" lang="en" sz="3200"/>
              <a:t>HTML, CSS, and JavaScript</a:t>
            </a:r>
            <a:r>
              <a:rPr lang="en" sz="3200"/>
              <a:t>. Here are some </a:t>
            </a:r>
            <a:r>
              <a:rPr b="1" lang="en" sz="3200"/>
              <a:t>ideas</a:t>
            </a:r>
            <a:r>
              <a:rPr lang="en" sz="3200"/>
              <a:t> to get you started:</a:t>
            </a:r>
            <a:endParaRPr sz="3200"/>
          </a:p>
          <a:p>
            <a:pPr indent="0" lvl="0" marL="0" rtl="0" algn="l">
              <a:lnSpc>
                <a:spcPct val="115000"/>
              </a:lnSpc>
              <a:spcBef>
                <a:spcPts val="1200"/>
              </a:spcBef>
              <a:spcAft>
                <a:spcPts val="1200"/>
              </a:spcAft>
              <a:buSzPts val="1500"/>
              <a:buNone/>
            </a:pPr>
            <a:r>
              <a:t/>
            </a:r>
            <a:endParaRPr sz="3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Project Ideas	</a:t>
            </a:r>
            <a:endParaRPr/>
          </a:p>
        </p:txBody>
      </p:sp>
      <p:sp>
        <p:nvSpPr>
          <p:cNvPr id="262" name="Google Shape;262;p30"/>
          <p:cNvSpPr txBox="1"/>
          <p:nvPr>
            <p:ph idx="1" type="body"/>
          </p:nvPr>
        </p:nvSpPr>
        <p:spPr>
          <a:xfrm>
            <a:off x="471900" y="1774900"/>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152"/>
              <a:t>Personal Portfolio Website</a:t>
            </a:r>
            <a:r>
              <a:rPr lang="en" sz="1152"/>
              <a:t>: A clean, stylish site that highlights your projects, skills, and a bit about you. Add sections like </a:t>
            </a:r>
            <a:r>
              <a:rPr b="1" lang="en" sz="1152"/>
              <a:t>About Me</a:t>
            </a:r>
            <a:r>
              <a:rPr lang="en" sz="1152"/>
              <a:t>, </a:t>
            </a:r>
            <a:r>
              <a:rPr b="1" lang="en" sz="1152"/>
              <a:t>Contact</a:t>
            </a:r>
            <a:r>
              <a:rPr lang="en" sz="1152"/>
              <a:t>, and </a:t>
            </a:r>
            <a:r>
              <a:rPr b="1" lang="en" sz="1152"/>
              <a:t>Project Showcase</a:t>
            </a:r>
            <a:r>
              <a:rPr lang="en" sz="1152"/>
              <a:t>.</a:t>
            </a:r>
            <a:endParaRPr sz="1152"/>
          </a:p>
          <a:p>
            <a:pPr indent="0" lvl="0" marL="0" rtl="0" algn="l">
              <a:lnSpc>
                <a:spcPct val="95000"/>
              </a:lnSpc>
              <a:spcBef>
                <a:spcPts val="1200"/>
              </a:spcBef>
              <a:spcAft>
                <a:spcPts val="0"/>
              </a:spcAft>
              <a:buSzPts val="852"/>
              <a:buNone/>
            </a:pPr>
            <a:r>
              <a:rPr b="1" lang="en" sz="1152"/>
              <a:t>Interactive To-Do List</a:t>
            </a:r>
            <a:r>
              <a:rPr lang="en" sz="1152"/>
              <a:t>: Build a task manager where users can add, delete, and mark tasks as completed. Add </a:t>
            </a:r>
            <a:r>
              <a:rPr b="1" lang="en" sz="1152"/>
              <a:t>local storage</a:t>
            </a:r>
            <a:r>
              <a:rPr lang="en" sz="1152"/>
              <a:t> so tasks persist even after a page refresh.</a:t>
            </a:r>
            <a:endParaRPr sz="1152"/>
          </a:p>
          <a:p>
            <a:pPr indent="0" lvl="0" marL="0" rtl="0" algn="l">
              <a:lnSpc>
                <a:spcPct val="95000"/>
              </a:lnSpc>
              <a:spcBef>
                <a:spcPts val="1200"/>
              </a:spcBef>
              <a:spcAft>
                <a:spcPts val="0"/>
              </a:spcAft>
              <a:buSzPts val="852"/>
              <a:buNone/>
            </a:pPr>
            <a:r>
              <a:rPr b="1" lang="en" sz="1152"/>
              <a:t>Weather App</a:t>
            </a:r>
            <a:r>
              <a:rPr lang="en" sz="1152"/>
              <a:t>: Create an app that fetches weather data from an API and displays it beautifully. You could even add </a:t>
            </a:r>
            <a:r>
              <a:rPr b="1" lang="en" sz="1152"/>
              <a:t>forecast functionality</a:t>
            </a:r>
            <a:r>
              <a:rPr lang="en" sz="1152"/>
              <a:t> and cool </a:t>
            </a:r>
            <a:r>
              <a:rPr b="1" lang="en" sz="1152"/>
              <a:t>CSS animations</a:t>
            </a:r>
            <a:r>
              <a:rPr lang="en" sz="1152"/>
              <a:t> for dynamic updates.</a:t>
            </a:r>
            <a:endParaRPr sz="1152"/>
          </a:p>
          <a:p>
            <a:pPr indent="0" lvl="0" marL="0" rtl="0" algn="l">
              <a:lnSpc>
                <a:spcPct val="95000"/>
              </a:lnSpc>
              <a:spcBef>
                <a:spcPts val="1200"/>
              </a:spcBef>
              <a:spcAft>
                <a:spcPts val="0"/>
              </a:spcAft>
              <a:buSzPts val="852"/>
              <a:buNone/>
            </a:pPr>
            <a:r>
              <a:rPr b="1" lang="en" sz="1152"/>
              <a:t>Interactive Quiz Game</a:t>
            </a:r>
            <a:r>
              <a:rPr lang="en" sz="1152"/>
              <a:t>: Build a fun quiz with multiple-choice questions. Keep score, show feedback for correct/incorrect answers, and add a </a:t>
            </a:r>
            <a:r>
              <a:rPr b="1" lang="en" sz="1152"/>
              <a:t>timer</a:t>
            </a:r>
            <a:r>
              <a:rPr lang="en" sz="1152"/>
              <a:t> for added challenge.</a:t>
            </a:r>
            <a:endParaRPr sz="1152"/>
          </a:p>
          <a:p>
            <a:pPr indent="0" lvl="0" marL="0" rtl="0" algn="l">
              <a:lnSpc>
                <a:spcPct val="95000"/>
              </a:lnSpc>
              <a:spcBef>
                <a:spcPts val="1200"/>
              </a:spcBef>
              <a:spcAft>
                <a:spcPts val="0"/>
              </a:spcAft>
              <a:buSzPts val="852"/>
              <a:buNone/>
            </a:pPr>
            <a:r>
              <a:rPr b="1" lang="en" sz="1152"/>
              <a:t>Blog or Article Website</a:t>
            </a:r>
            <a:r>
              <a:rPr lang="en" sz="1152"/>
              <a:t>: Build a responsive blog layout where users can </a:t>
            </a:r>
            <a:r>
              <a:rPr b="1" lang="en" sz="1152"/>
              <a:t>filter content</a:t>
            </a:r>
            <a:r>
              <a:rPr lang="en" sz="1152"/>
              <a:t> based on categories (using </a:t>
            </a:r>
            <a:r>
              <a:rPr b="1" lang="en" sz="1152"/>
              <a:t>JavaScript</a:t>
            </a:r>
            <a:r>
              <a:rPr lang="en" sz="1152"/>
              <a:t> to toggle between different articles).</a:t>
            </a:r>
            <a:endParaRPr sz="1152"/>
          </a:p>
          <a:p>
            <a:pPr indent="0" lvl="0" marL="0" rtl="0" algn="l">
              <a:lnSpc>
                <a:spcPct val="95000"/>
              </a:lnSpc>
              <a:spcBef>
                <a:spcPts val="1200"/>
              </a:spcBef>
              <a:spcAft>
                <a:spcPts val="0"/>
              </a:spcAft>
              <a:buSzPts val="852"/>
              <a:buNone/>
            </a:pPr>
            <a:r>
              <a:rPr b="1" lang="en" sz="1152"/>
              <a:t>Interactive Image Gallery</a:t>
            </a:r>
            <a:r>
              <a:rPr lang="en" sz="1152"/>
              <a:t>: A gallery where users can click on images to </a:t>
            </a:r>
            <a:r>
              <a:rPr b="1" lang="en" sz="1152"/>
              <a:t>enlarge</a:t>
            </a:r>
            <a:r>
              <a:rPr lang="en" sz="1152"/>
              <a:t> them or add a </a:t>
            </a:r>
            <a:r>
              <a:rPr b="1" lang="en" sz="1152"/>
              <a:t>lightbox</a:t>
            </a:r>
            <a:r>
              <a:rPr lang="en" sz="1152"/>
              <a:t> effect.</a:t>
            </a:r>
            <a:endParaRPr sz="1152"/>
          </a:p>
          <a:p>
            <a:pPr indent="0" lvl="0" marL="0" rtl="0" algn="l">
              <a:lnSpc>
                <a:spcPct val="95000"/>
              </a:lnSpc>
              <a:spcBef>
                <a:spcPts val="1200"/>
              </a:spcBef>
              <a:spcAft>
                <a:spcPts val="0"/>
              </a:spcAft>
              <a:buSzPts val="852"/>
              <a:buNone/>
            </a:pPr>
            <a:r>
              <a:rPr b="1" lang="en" sz="1152"/>
              <a:t>Landing Page for a Business or Product</a:t>
            </a:r>
            <a:r>
              <a:rPr lang="en" sz="1152"/>
              <a:t>: Create a sleek landing page with sections for product features, testimonials, and a call to action (like a contact form or newsletter sign-up).</a:t>
            </a:r>
            <a:endParaRPr sz="1152"/>
          </a:p>
          <a:p>
            <a:pPr indent="0" lvl="0" marL="0" rtl="0" algn="l">
              <a:lnSpc>
                <a:spcPct val="95000"/>
              </a:lnSpc>
              <a:spcBef>
                <a:spcPts val="1200"/>
              </a:spcBef>
              <a:spcAft>
                <a:spcPts val="1200"/>
              </a:spcAft>
              <a:buSzPts val="852"/>
              <a:buNone/>
            </a:pPr>
            <a:r>
              <a:t/>
            </a:r>
            <a:endParaRPr sz="1462"/>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Final Touches</a:t>
            </a:r>
            <a:endParaRPr/>
          </a:p>
        </p:txBody>
      </p:sp>
      <p:sp>
        <p:nvSpPr>
          <p:cNvPr id="268" name="Google Shape;268;p3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1500"/>
              <a:buNone/>
            </a:pPr>
            <a:r>
              <a:rPr lang="en" sz="1600"/>
              <a:t>As you near completion, focus on these finishing touches:</a:t>
            </a:r>
            <a:endParaRPr sz="1600"/>
          </a:p>
          <a:p>
            <a:pPr indent="-330200" lvl="0" marL="457200" rtl="0" algn="l">
              <a:lnSpc>
                <a:spcPct val="105000"/>
              </a:lnSpc>
              <a:spcBef>
                <a:spcPts val="1200"/>
              </a:spcBef>
              <a:spcAft>
                <a:spcPts val="0"/>
              </a:spcAft>
              <a:buSzPts val="1600"/>
              <a:buAutoNum type="arabicPeriod"/>
            </a:pPr>
            <a:r>
              <a:rPr b="1" lang="en" sz="1600"/>
              <a:t>Polish Your Design</a:t>
            </a:r>
            <a:r>
              <a:rPr lang="en" sz="1600"/>
              <a:t>: Ensure everything is visually appealing and cohesive. Adjust margins, paddings, and colors for readability and flow.</a:t>
            </a:r>
            <a:endParaRPr sz="1600"/>
          </a:p>
          <a:p>
            <a:pPr indent="-330200" lvl="0" marL="457200" rtl="0" algn="l">
              <a:lnSpc>
                <a:spcPct val="105000"/>
              </a:lnSpc>
              <a:spcBef>
                <a:spcPts val="0"/>
              </a:spcBef>
              <a:spcAft>
                <a:spcPts val="0"/>
              </a:spcAft>
              <a:buSzPts val="1600"/>
              <a:buAutoNum type="arabicPeriod"/>
            </a:pPr>
            <a:r>
              <a:rPr b="1" lang="en" sz="1600"/>
              <a:t>Documentation</a:t>
            </a:r>
            <a:r>
              <a:rPr lang="en" sz="1600"/>
              <a:t>: Add a </a:t>
            </a:r>
            <a:r>
              <a:rPr b="1" lang="en" sz="1600"/>
              <a:t>README file</a:t>
            </a:r>
            <a:r>
              <a:rPr lang="en" sz="1600"/>
              <a:t> to your project repository (GitHub). Include:</a:t>
            </a:r>
            <a:endParaRPr sz="1600"/>
          </a:p>
          <a:p>
            <a:pPr indent="-330200" lvl="1" marL="914400" rtl="0" algn="l">
              <a:lnSpc>
                <a:spcPct val="105000"/>
              </a:lnSpc>
              <a:spcBef>
                <a:spcPts val="0"/>
              </a:spcBef>
              <a:spcAft>
                <a:spcPts val="0"/>
              </a:spcAft>
              <a:buSzPts val="1600"/>
              <a:buChar char="○"/>
            </a:pPr>
            <a:r>
              <a:rPr lang="en" sz="1600"/>
              <a:t>A project description.</a:t>
            </a:r>
            <a:endParaRPr sz="1600"/>
          </a:p>
          <a:p>
            <a:pPr indent="-330200" lvl="1" marL="914400" rtl="0" algn="l">
              <a:lnSpc>
                <a:spcPct val="105000"/>
              </a:lnSpc>
              <a:spcBef>
                <a:spcPts val="0"/>
              </a:spcBef>
              <a:spcAft>
                <a:spcPts val="0"/>
              </a:spcAft>
              <a:buSzPts val="1600"/>
              <a:buChar char="○"/>
            </a:pPr>
            <a:r>
              <a:rPr lang="en" sz="1600"/>
              <a:t>Technologies used.</a:t>
            </a:r>
            <a:endParaRPr sz="1600"/>
          </a:p>
          <a:p>
            <a:pPr indent="-330200" lvl="1" marL="914400" rtl="0" algn="l">
              <a:lnSpc>
                <a:spcPct val="105000"/>
              </a:lnSpc>
              <a:spcBef>
                <a:spcPts val="0"/>
              </a:spcBef>
              <a:spcAft>
                <a:spcPts val="0"/>
              </a:spcAft>
              <a:buSzPts val="1600"/>
              <a:buChar char="○"/>
            </a:pPr>
            <a:r>
              <a:rPr lang="en" sz="1600"/>
              <a:t>Instructions for running the project.</a:t>
            </a:r>
            <a:endParaRPr sz="1600"/>
          </a:p>
          <a:p>
            <a:pPr indent="-330200" lvl="0" marL="457200" rtl="0" algn="l">
              <a:lnSpc>
                <a:spcPct val="105000"/>
              </a:lnSpc>
              <a:spcBef>
                <a:spcPts val="0"/>
              </a:spcBef>
              <a:spcAft>
                <a:spcPts val="0"/>
              </a:spcAft>
              <a:buSzPts val="1600"/>
              <a:buAutoNum type="arabicPeriod"/>
            </a:pPr>
            <a:r>
              <a:rPr b="1" lang="en" sz="1600"/>
              <a:t>Deployment</a:t>
            </a:r>
            <a:r>
              <a:rPr lang="en" sz="1600"/>
              <a:t>: Deploy your project to a hosting platform like </a:t>
            </a:r>
            <a:r>
              <a:rPr b="1" lang="en" sz="1600"/>
              <a:t>Vercel </a:t>
            </a:r>
            <a:r>
              <a:rPr lang="en" sz="1600"/>
              <a:t>so it’s live and accessible for your demo.</a:t>
            </a:r>
            <a:endParaRPr sz="1600"/>
          </a:p>
          <a:p>
            <a:pPr indent="0" lvl="0" marL="0" rtl="0" algn="l">
              <a:lnSpc>
                <a:spcPct val="105000"/>
              </a:lnSpc>
              <a:spcBef>
                <a:spcPts val="1200"/>
              </a:spcBef>
              <a:spcAft>
                <a:spcPts val="1200"/>
              </a:spcAft>
              <a:buSzPts val="1500"/>
              <a:buNone/>
            </a:pPr>
            <a:r>
              <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GitHub Setup</a:t>
            </a:r>
            <a:endParaRPr/>
          </a:p>
        </p:txBody>
      </p:sp>
      <p:sp>
        <p:nvSpPr>
          <p:cNvPr id="274" name="Google Shape;274;p32"/>
          <p:cNvSpPr txBox="1"/>
          <p:nvPr>
            <p:ph idx="1" type="body"/>
          </p:nvPr>
        </p:nvSpPr>
        <p:spPr>
          <a:xfrm>
            <a:off x="471900" y="1798900"/>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252"/>
              <a:t>Create a GitHub Account</a:t>
            </a:r>
            <a:r>
              <a:rPr lang="en" sz="1252"/>
              <a:t>:</a:t>
            </a:r>
            <a:br>
              <a:rPr lang="en" sz="1252"/>
            </a:br>
            <a:r>
              <a:rPr lang="en" sz="1252"/>
              <a:t>Go to</a:t>
            </a:r>
            <a:r>
              <a:rPr lang="en" sz="1252">
                <a:solidFill>
                  <a:schemeClr val="hlink"/>
                </a:solidFill>
                <a:uFill>
                  <a:noFill/>
                </a:uFill>
                <a:hlinkClick r:id="rId3"/>
              </a:rPr>
              <a:t> </a:t>
            </a:r>
            <a:r>
              <a:rPr lang="en" sz="1252" u="sng">
                <a:solidFill>
                  <a:schemeClr val="hlink"/>
                </a:solidFill>
                <a:hlinkClick r:id="rId4"/>
              </a:rPr>
              <a:t>GitHub</a:t>
            </a:r>
            <a:r>
              <a:rPr lang="en" sz="1252"/>
              <a:t> and sign up for a free account.</a:t>
            </a:r>
            <a:endParaRPr sz="1252"/>
          </a:p>
          <a:p>
            <a:pPr indent="0" lvl="0" marL="0" rtl="0" algn="l">
              <a:lnSpc>
                <a:spcPct val="95000"/>
              </a:lnSpc>
              <a:spcBef>
                <a:spcPts val="1200"/>
              </a:spcBef>
              <a:spcAft>
                <a:spcPts val="0"/>
              </a:spcAft>
              <a:buSzPts val="852"/>
              <a:buNone/>
            </a:pPr>
            <a:r>
              <a:rPr b="1" lang="en" sz="1252"/>
              <a:t>Install Git</a:t>
            </a:r>
            <a:r>
              <a:rPr lang="en" sz="1252"/>
              <a:t>:</a:t>
            </a:r>
            <a:br>
              <a:rPr lang="en" sz="1252"/>
            </a:br>
            <a:r>
              <a:rPr lang="en" sz="1252"/>
              <a:t>Download and install Git from</a:t>
            </a:r>
            <a:r>
              <a:rPr lang="en" sz="1252">
                <a:solidFill>
                  <a:schemeClr val="hlink"/>
                </a:solidFill>
                <a:uFill>
                  <a:noFill/>
                </a:uFill>
                <a:hlinkClick r:id="rId5"/>
              </a:rPr>
              <a:t> </a:t>
            </a:r>
            <a:r>
              <a:rPr lang="en" sz="1252" u="sng">
                <a:solidFill>
                  <a:schemeClr val="hlink"/>
                </a:solidFill>
                <a:hlinkClick r:id="rId6"/>
              </a:rPr>
              <a:t>https://git-scm.com</a:t>
            </a:r>
            <a:r>
              <a:rPr lang="en" sz="1252"/>
              <a:t>.</a:t>
            </a:r>
            <a:endParaRPr sz="1252"/>
          </a:p>
          <a:p>
            <a:pPr indent="0" lvl="0" marL="0" rtl="0" algn="l">
              <a:lnSpc>
                <a:spcPct val="95000"/>
              </a:lnSpc>
              <a:spcBef>
                <a:spcPts val="1200"/>
              </a:spcBef>
              <a:spcAft>
                <a:spcPts val="0"/>
              </a:spcAft>
              <a:buSzPts val="852"/>
              <a:buNone/>
            </a:pPr>
            <a:r>
              <a:rPr b="1" lang="en" sz="1252"/>
              <a:t>Initialize Git in VS Code</a:t>
            </a:r>
            <a:r>
              <a:rPr lang="en" sz="1252"/>
              <a:t>:</a:t>
            </a:r>
            <a:br>
              <a:rPr lang="en" sz="1252"/>
            </a:br>
            <a:r>
              <a:rPr lang="en" sz="1252"/>
              <a:t>Open VS Code, then open your project folder.</a:t>
            </a:r>
            <a:endParaRPr sz="1252"/>
          </a:p>
          <a:p>
            <a:pPr indent="0" lvl="0" marL="0" rtl="0" algn="l">
              <a:lnSpc>
                <a:spcPct val="95000"/>
              </a:lnSpc>
              <a:spcBef>
                <a:spcPts val="1200"/>
              </a:spcBef>
              <a:spcAft>
                <a:spcPts val="0"/>
              </a:spcAft>
              <a:buSzPts val="852"/>
              <a:buNone/>
            </a:pPr>
            <a:r>
              <a:rPr b="1" lang="en" sz="1252"/>
              <a:t>Create a New Repository</a:t>
            </a:r>
            <a:r>
              <a:rPr lang="en" sz="1252"/>
              <a:t>:</a:t>
            </a:r>
            <a:br>
              <a:rPr lang="en" sz="1252"/>
            </a:br>
            <a:r>
              <a:rPr lang="en" sz="1252"/>
              <a:t>On GitHub, click </a:t>
            </a:r>
            <a:r>
              <a:rPr b="1" lang="en" sz="1252"/>
              <a:t>New Repository</a:t>
            </a:r>
            <a:r>
              <a:rPr lang="en" sz="1252"/>
              <a:t>, name it, and click </a:t>
            </a:r>
            <a:r>
              <a:rPr b="1" lang="en" sz="1252"/>
              <a:t>Create Repository</a:t>
            </a:r>
            <a:r>
              <a:rPr lang="en" sz="1252"/>
              <a:t>.</a:t>
            </a:r>
            <a:endParaRPr sz="1252"/>
          </a:p>
          <a:p>
            <a:pPr indent="0" lvl="0" marL="0" rtl="0" algn="l">
              <a:lnSpc>
                <a:spcPct val="95000"/>
              </a:lnSpc>
              <a:spcBef>
                <a:spcPts val="1200"/>
              </a:spcBef>
              <a:spcAft>
                <a:spcPts val="0"/>
              </a:spcAft>
              <a:buSzPts val="852"/>
              <a:buNone/>
            </a:pPr>
            <a:r>
              <a:rPr b="1" lang="en" sz="1252"/>
              <a:t>Link Local Repo to GitHub</a:t>
            </a:r>
            <a:r>
              <a:rPr lang="en" sz="1252"/>
              <a:t>:</a:t>
            </a:r>
            <a:br>
              <a:rPr lang="en" sz="1252"/>
            </a:br>
            <a:r>
              <a:rPr lang="en" sz="1252"/>
              <a:t>Add the remote URL from GitHub:</a:t>
            </a:r>
            <a:endParaRPr sz="1252"/>
          </a:p>
          <a:p>
            <a:pPr indent="0" lvl="0" marL="0" rtl="0" algn="l">
              <a:lnSpc>
                <a:spcPct val="95000"/>
              </a:lnSpc>
              <a:spcBef>
                <a:spcPts val="1200"/>
              </a:spcBef>
              <a:spcAft>
                <a:spcPts val="0"/>
              </a:spcAft>
              <a:buSzPts val="852"/>
              <a:buNone/>
            </a:pPr>
            <a:r>
              <a:rPr b="1" lang="en" sz="1252"/>
              <a:t>Push Code to GitHub</a:t>
            </a:r>
            <a:r>
              <a:rPr lang="en" sz="1252"/>
              <a:t>:</a:t>
            </a:r>
            <a:endParaRPr sz="1252"/>
          </a:p>
          <a:p>
            <a:pPr indent="0" lvl="0" marL="0" rtl="0" algn="l">
              <a:lnSpc>
                <a:spcPct val="95000"/>
              </a:lnSpc>
              <a:spcBef>
                <a:spcPts val="1200"/>
              </a:spcBef>
              <a:spcAft>
                <a:spcPts val="1200"/>
              </a:spcAft>
              <a:buSzPts val="852"/>
              <a:buNone/>
            </a:pPr>
            <a:r>
              <a:rPr lang="en" sz="1252"/>
              <a:t>Push your code to the GitHub repository</a:t>
            </a:r>
            <a:endParaRPr sz="1562"/>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Deploy to Vercel</a:t>
            </a:r>
            <a:endParaRPr/>
          </a:p>
        </p:txBody>
      </p:sp>
      <p:sp>
        <p:nvSpPr>
          <p:cNvPr id="280" name="Google Shape;280;p3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500"/>
              <a:buNone/>
            </a:pPr>
            <a:r>
              <a:rPr b="1" lang="en"/>
              <a:t>Sign Up on Vercel</a:t>
            </a:r>
            <a:r>
              <a:rPr lang="en"/>
              <a:t>:</a:t>
            </a:r>
            <a:br>
              <a:rPr lang="en"/>
            </a:br>
            <a:r>
              <a:rPr lang="en"/>
              <a:t>Go to</a:t>
            </a:r>
            <a:r>
              <a:rPr lang="en">
                <a:solidFill>
                  <a:schemeClr val="hlink"/>
                </a:solidFill>
                <a:uFill>
                  <a:noFill/>
                </a:uFill>
                <a:hlinkClick r:id="rId3"/>
              </a:rPr>
              <a:t> </a:t>
            </a:r>
            <a:r>
              <a:rPr lang="en" u="sng">
                <a:solidFill>
                  <a:schemeClr val="hlink"/>
                </a:solidFill>
                <a:hlinkClick r:id="rId4"/>
              </a:rPr>
              <a:t>Vercel</a:t>
            </a:r>
            <a:r>
              <a:rPr lang="en"/>
              <a:t> and sign up with GitHub.</a:t>
            </a:r>
            <a:endParaRPr/>
          </a:p>
          <a:p>
            <a:pPr indent="0" lvl="0" marL="0" rtl="0" algn="l">
              <a:lnSpc>
                <a:spcPct val="105000"/>
              </a:lnSpc>
              <a:spcBef>
                <a:spcPts val="1200"/>
              </a:spcBef>
              <a:spcAft>
                <a:spcPts val="0"/>
              </a:spcAft>
              <a:buSzPts val="1500"/>
              <a:buNone/>
            </a:pPr>
            <a:r>
              <a:rPr b="1" lang="en"/>
              <a:t>Link Your GitHub Repo</a:t>
            </a:r>
            <a:r>
              <a:rPr lang="en"/>
              <a:t>:</a:t>
            </a:r>
            <a:br>
              <a:rPr lang="en"/>
            </a:br>
            <a:r>
              <a:rPr lang="en"/>
              <a:t>After signing in, click </a:t>
            </a:r>
            <a:r>
              <a:rPr b="1" lang="en"/>
              <a:t>New Project</a:t>
            </a:r>
            <a:r>
              <a:rPr lang="en"/>
              <a:t> and select the GitHub repository you want to deploy.</a:t>
            </a:r>
            <a:endParaRPr/>
          </a:p>
          <a:p>
            <a:pPr indent="0" lvl="0" marL="0" rtl="0" algn="l">
              <a:lnSpc>
                <a:spcPct val="105000"/>
              </a:lnSpc>
              <a:spcBef>
                <a:spcPts val="1200"/>
              </a:spcBef>
              <a:spcAft>
                <a:spcPts val="0"/>
              </a:spcAft>
              <a:buSzPts val="1500"/>
              <a:buNone/>
            </a:pPr>
            <a:r>
              <a:rPr b="1" lang="en"/>
              <a:t>Vercel Deployment Setup</a:t>
            </a:r>
            <a:r>
              <a:rPr lang="en"/>
              <a:t>:</a:t>
            </a:r>
            <a:br>
              <a:rPr lang="en"/>
            </a:br>
            <a:r>
              <a:rPr lang="en"/>
              <a:t>Vercel automatically detects your project settings (e.g., React, Next.js, static sites) and prepares your project for deployment.</a:t>
            </a:r>
            <a:endParaRPr/>
          </a:p>
          <a:p>
            <a:pPr indent="0" lvl="0" marL="0" rtl="0" algn="l">
              <a:lnSpc>
                <a:spcPct val="105000"/>
              </a:lnSpc>
              <a:spcBef>
                <a:spcPts val="1200"/>
              </a:spcBef>
              <a:spcAft>
                <a:spcPts val="0"/>
              </a:spcAft>
              <a:buSzPts val="1500"/>
              <a:buNone/>
            </a:pPr>
            <a:r>
              <a:rPr b="1" lang="en"/>
              <a:t>Deploy</a:t>
            </a:r>
            <a:r>
              <a:rPr lang="en"/>
              <a:t>:</a:t>
            </a:r>
            <a:br>
              <a:rPr lang="en"/>
            </a:br>
            <a:r>
              <a:rPr lang="en"/>
              <a:t>Click </a:t>
            </a:r>
            <a:r>
              <a:rPr b="1" lang="en"/>
              <a:t>Deploy</a:t>
            </a:r>
            <a:r>
              <a:rPr lang="en"/>
              <a:t>. Vercel will build and deploy your project live, providing you with a unique URL (e.g., </a:t>
            </a:r>
            <a:r>
              <a:rPr lang="en">
                <a:solidFill>
                  <a:srgbClr val="188038"/>
                </a:solidFill>
                <a:latin typeface="Roboto Mono"/>
                <a:ea typeface="Roboto Mono"/>
                <a:cs typeface="Roboto Mono"/>
                <a:sym typeface="Roboto Mono"/>
              </a:rPr>
              <a:t>https://your-project-name.vercel.app</a:t>
            </a:r>
            <a:r>
              <a:rPr lang="en"/>
              <a:t>).</a:t>
            </a:r>
            <a:endParaRPr/>
          </a:p>
          <a:p>
            <a:pPr indent="0" lvl="0" marL="0" rtl="0" algn="l">
              <a:lnSpc>
                <a:spcPct val="105000"/>
              </a:lnSpc>
              <a:spcBef>
                <a:spcPts val="1200"/>
              </a:spcBef>
              <a:spcAft>
                <a:spcPts val="1200"/>
              </a:spcAft>
              <a:buSzPts val="1500"/>
              <a:buNone/>
            </a:pPr>
            <a:r>
              <a:t/>
            </a:r>
            <a:endParaRPr sz="1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200"/>
              <a:buNone/>
            </a:pPr>
            <a:r>
              <a:rPr lang="en"/>
              <a:t>Good Luck!</a:t>
            </a:r>
            <a:endParaRPr/>
          </a:p>
        </p:txBody>
      </p:sp>
      <p:sp>
        <p:nvSpPr>
          <p:cNvPr id="286" name="Google Shape;286;p34"/>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500"/>
              <a:buNone/>
            </a:pPr>
            <a:r>
              <a:rPr lang="en" sz="2000"/>
              <a:t>Your </a:t>
            </a:r>
            <a:r>
              <a:rPr b="1" lang="en" sz="2000"/>
              <a:t>Final Project</a:t>
            </a:r>
            <a:r>
              <a:rPr lang="en" sz="2000"/>
              <a:t> is the culmination of everything you’ve learned. This is your chance to showcase all the skills you’ve developed throughout the course. So get creative, have fun, and be proud of the work you’ve done. </a:t>
            </a:r>
            <a:r>
              <a:rPr b="1" lang="en" sz="2000"/>
              <a:t>Demo Day</a:t>
            </a:r>
            <a:r>
              <a:rPr lang="en" sz="2000"/>
              <a:t> will be an exciting opportunity to share your hard work and receive feedback to continue improving. You’ve got this! 🎉🚀</a:t>
            </a:r>
            <a:endParaRPr sz="2000"/>
          </a:p>
          <a:p>
            <a:pPr indent="0" lvl="0" marL="0" rtl="0" algn="l">
              <a:lnSpc>
                <a:spcPct val="115000"/>
              </a:lnSpc>
              <a:spcBef>
                <a:spcPts val="1200"/>
              </a:spcBef>
              <a:spcAft>
                <a:spcPts val="1200"/>
              </a:spcAft>
              <a:buSzPts val="1500"/>
              <a:buNone/>
            </a:pPr>
            <a:r>
              <a:t/>
            </a:r>
            <a:endParaRPr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5"/>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200"/>
              <a:buNone/>
            </a:pPr>
            <a:r>
              <a:rPr lang="en"/>
              <a:t>Q &amp; A Session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https://github.com/CODE-CRUNCH-CLUB/C8-CRUNCH-LABS-WEB-DEV</a:t>
            </a:r>
            <a:endParaRPr/>
          </a:p>
        </p:txBody>
      </p:sp>
      <p:pic>
        <p:nvPicPr>
          <p:cNvPr id="297" name="Google Shape;297;p36"/>
          <p:cNvPicPr preferRelativeResize="0"/>
          <p:nvPr/>
        </p:nvPicPr>
        <p:blipFill rotWithShape="1">
          <a:blip r:embed="rId3">
            <a:alphaModFix/>
          </a:blip>
          <a:srcRect b="0" l="0" r="0" t="0"/>
          <a:stretch/>
        </p:blipFill>
        <p:spPr>
          <a:xfrm>
            <a:off x="6768125" y="2716325"/>
            <a:ext cx="2121850" cy="21218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37"/>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7"/>
          <p:cNvSpPr/>
          <p:nvPr/>
        </p:nvSpPr>
        <p:spPr>
          <a:xfrm>
            <a:off x="0" y="0"/>
            <a:ext cx="3668100" cy="51435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5" name="Google Shape;305;p37"/>
          <p:cNvSpPr txBox="1"/>
          <p:nvPr>
            <p:ph type="title"/>
          </p:nvPr>
        </p:nvSpPr>
        <p:spPr>
          <a:xfrm>
            <a:off x="630113" y="2525831"/>
            <a:ext cx="2400300" cy="866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Play"/>
              <a:buNone/>
            </a:pPr>
            <a:r>
              <a:rPr lang="en">
                <a:solidFill>
                  <a:schemeClr val="lt1"/>
                </a:solidFill>
              </a:rPr>
              <a:t>Attendance</a:t>
            </a:r>
            <a:endParaRPr>
              <a:solidFill>
                <a:schemeClr val="lt1"/>
              </a:solidFill>
            </a:endParaRPr>
          </a:p>
        </p:txBody>
      </p:sp>
      <p:grpSp>
        <p:nvGrpSpPr>
          <p:cNvPr id="306" name="Google Shape;306;p37"/>
          <p:cNvGrpSpPr/>
          <p:nvPr/>
        </p:nvGrpSpPr>
        <p:grpSpPr>
          <a:xfrm>
            <a:off x="0" y="152182"/>
            <a:ext cx="1432688" cy="532245"/>
            <a:chOff x="2267504" y="2540250"/>
            <a:chExt cx="1990951" cy="739640"/>
          </a:xfrm>
        </p:grpSpPr>
        <p:sp>
          <p:nvSpPr>
            <p:cNvPr id="307" name="Google Shape;307;p37"/>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08" name="Google Shape;308;p37"/>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309" name="Google Shape;309;p37"/>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0" name="Google Shape;310;p37"/>
          <p:cNvSpPr/>
          <p:nvPr/>
        </p:nvSpPr>
        <p:spPr>
          <a:xfrm>
            <a:off x="304695" y="3564156"/>
            <a:ext cx="273900" cy="273900"/>
          </a:xfrm>
          <a:prstGeom prst="ellipse">
            <a:avLst/>
          </a:prstGeom>
          <a:solidFill>
            <a:schemeClr val="accent6">
              <a:alpha val="29019"/>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11" name="Google Shape;311;p37"/>
          <p:cNvGrpSpPr/>
          <p:nvPr/>
        </p:nvGrpSpPr>
        <p:grpSpPr>
          <a:xfrm>
            <a:off x="3082210" y="4154929"/>
            <a:ext cx="731373" cy="731374"/>
            <a:chOff x="5829300" y="3162300"/>
            <a:chExt cx="532256" cy="532257"/>
          </a:xfrm>
        </p:grpSpPr>
        <p:sp>
          <p:nvSpPr>
            <p:cNvPr id="312" name="Google Shape;312;p37"/>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3" name="Google Shape;313;p37"/>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4" name="Google Shape;314;p37"/>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5" name="Google Shape;315;p37"/>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6" name="Google Shape;316;p37"/>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7" name="Google Shape;317;p37"/>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8" name="Google Shape;318;p37"/>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9" name="Google Shape;319;p37"/>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0" name="Google Shape;320;p37"/>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1" name="Google Shape;321;p37"/>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2" name="Google Shape;322;p37"/>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3" name="Google Shape;323;p37"/>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4" name="Google Shape;324;p37"/>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grpSp>
        <p:nvGrpSpPr>
          <p:cNvPr id="325" name="Google Shape;325;p37"/>
          <p:cNvGrpSpPr/>
          <p:nvPr/>
        </p:nvGrpSpPr>
        <p:grpSpPr>
          <a:xfrm>
            <a:off x="4057984" y="366431"/>
            <a:ext cx="4836551" cy="4392555"/>
            <a:chOff x="-73494" y="11035"/>
            <a:chExt cx="6448735" cy="5856740"/>
          </a:xfrm>
        </p:grpSpPr>
        <p:sp>
          <p:nvSpPr>
            <p:cNvPr id="326" name="Google Shape;326;p37"/>
            <p:cNvSpPr/>
            <p:nvPr/>
          </p:nvSpPr>
          <p:spPr>
            <a:xfrm>
              <a:off x="-73494" y="1103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7" name="Google Shape;327;p37"/>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8" name="Google Shape;328;p37"/>
            <p:cNvSpPr/>
            <p:nvPr/>
          </p:nvSpPr>
          <p:spPr>
            <a:xfrm>
              <a:off x="1350617" y="11035"/>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29" name="Google Shape;329;p37"/>
            <p:cNvSpPr txBox="1"/>
            <p:nvPr/>
          </p:nvSpPr>
          <p:spPr>
            <a:xfrm>
              <a:off x="1350617" y="11035"/>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800"/>
                <a:buFont typeface="Arial"/>
                <a:buNone/>
              </a:pPr>
              <a:r>
                <a:rPr b="0" i="0" lang="en" sz="1800" u="none" cap="none" strike="noStrike">
                  <a:solidFill>
                    <a:srgbClr val="000000"/>
                  </a:solidFill>
                  <a:latin typeface="Arial"/>
                  <a:ea typeface="Arial"/>
                  <a:cs typeface="Arial"/>
                  <a:sym typeface="Arial"/>
                </a:rPr>
                <a:t>Join us for the next sessions</a:t>
              </a:r>
              <a:endParaRPr b="0" i="0" sz="1100" u="none" cap="none" strike="noStrike">
                <a:solidFill>
                  <a:srgbClr val="000000"/>
                </a:solidFill>
                <a:latin typeface="Arial"/>
                <a:ea typeface="Arial"/>
                <a:cs typeface="Arial"/>
                <a:sym typeface="Arial"/>
              </a:endParaRPr>
            </a:p>
          </p:txBody>
        </p:sp>
        <p:sp>
          <p:nvSpPr>
            <p:cNvPr id="330" name="Google Shape;330;p37"/>
            <p:cNvSpPr/>
            <p:nvPr/>
          </p:nvSpPr>
          <p:spPr>
            <a:xfrm>
              <a:off x="-73494" y="1552282"/>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1" name="Google Shape;331;p37"/>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2" name="Google Shape;332;p37"/>
            <p:cNvSpPr/>
            <p:nvPr/>
          </p:nvSpPr>
          <p:spPr>
            <a:xfrm>
              <a:off x="1350617" y="1552282"/>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3" name="Google Shape;333;p37"/>
            <p:cNvSpPr txBox="1"/>
            <p:nvPr/>
          </p:nvSpPr>
          <p:spPr>
            <a:xfrm>
              <a:off x="1350617" y="1552282"/>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400"/>
                </a:spcBef>
                <a:spcAft>
                  <a:spcPts val="0"/>
                </a:spcAft>
                <a:buClr>
                  <a:schemeClr val="dk1"/>
                </a:buClr>
                <a:buSzPts val="1200"/>
                <a:buFont typeface="Arial"/>
                <a:buNone/>
              </a:pPr>
              <a:r>
                <a:rPr b="1" i="0" lang="en" sz="1200" u="none" cap="none" strike="noStrike">
                  <a:solidFill>
                    <a:srgbClr val="000000"/>
                  </a:solidFill>
                  <a:latin typeface="Arial"/>
                  <a:ea typeface="Arial"/>
                  <a:cs typeface="Arial"/>
                  <a:sym typeface="Arial"/>
                </a:rPr>
                <a:t>Check our schedule on Discord “Schedule” Channel</a:t>
              </a:r>
              <a:endParaRPr b="0" i="0" sz="1100" u="none" cap="none" strike="noStrike">
                <a:solidFill>
                  <a:srgbClr val="000000"/>
                </a:solidFill>
                <a:latin typeface="Arial"/>
                <a:ea typeface="Arial"/>
                <a:cs typeface="Arial"/>
                <a:sym typeface="Arial"/>
              </a:endParaRPr>
            </a:p>
          </p:txBody>
        </p:sp>
        <p:sp>
          <p:nvSpPr>
            <p:cNvPr id="334" name="Google Shape;334;p37"/>
            <p:cNvSpPr/>
            <p:nvPr/>
          </p:nvSpPr>
          <p:spPr>
            <a:xfrm>
              <a:off x="-73494" y="3093529"/>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5" name="Google Shape;335;p37"/>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6" name="Google Shape;336;p37"/>
            <p:cNvSpPr/>
            <p:nvPr/>
          </p:nvSpPr>
          <p:spPr>
            <a:xfrm>
              <a:off x="1350617" y="3093529"/>
              <a:ext cx="48747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7" name="Google Shape;337;p37"/>
            <p:cNvSpPr txBox="1"/>
            <p:nvPr/>
          </p:nvSpPr>
          <p:spPr>
            <a:xfrm>
              <a:off x="1350617" y="3093529"/>
              <a:ext cx="48747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2100"/>
                <a:buFont typeface="Arial"/>
                <a:buNone/>
              </a:pPr>
              <a:r>
                <a:rPr b="0" i="0" lang="en" sz="2100" u="none" cap="none" strike="noStrike">
                  <a:solidFill>
                    <a:srgbClr val="000000"/>
                  </a:solidFill>
                  <a:latin typeface="Arial"/>
                  <a:ea typeface="Arial"/>
                  <a:cs typeface="Arial"/>
                  <a:sym typeface="Arial"/>
                </a:rPr>
                <a:t>RSVP lu.ma/CODECRUNCH</a:t>
              </a:r>
              <a:endParaRPr b="0" i="0" sz="1100" u="none" cap="none" strike="noStrike">
                <a:solidFill>
                  <a:srgbClr val="000000"/>
                </a:solidFill>
                <a:latin typeface="Arial"/>
                <a:ea typeface="Arial"/>
                <a:cs typeface="Arial"/>
                <a:sym typeface="Arial"/>
              </a:endParaRPr>
            </a:p>
          </p:txBody>
        </p:sp>
        <p:sp>
          <p:nvSpPr>
            <p:cNvPr id="338" name="Google Shape;338;p37"/>
            <p:cNvSpPr/>
            <p:nvPr/>
          </p:nvSpPr>
          <p:spPr>
            <a:xfrm>
              <a:off x="-73494" y="4634775"/>
              <a:ext cx="6301500" cy="12330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39" name="Google Shape;339;p37"/>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0" name="Google Shape;340;p37"/>
            <p:cNvSpPr/>
            <p:nvPr/>
          </p:nvSpPr>
          <p:spPr>
            <a:xfrm>
              <a:off x="1200841" y="4634775"/>
              <a:ext cx="5174400" cy="12330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1" name="Google Shape;341;p37"/>
            <p:cNvSpPr txBox="1"/>
            <p:nvPr/>
          </p:nvSpPr>
          <p:spPr>
            <a:xfrm>
              <a:off x="1200841" y="4634775"/>
              <a:ext cx="5174400" cy="1233000"/>
            </a:xfrm>
            <a:prstGeom prst="rect">
              <a:avLst/>
            </a:prstGeom>
            <a:noFill/>
            <a:ln>
              <a:noFill/>
            </a:ln>
          </p:spPr>
          <p:txBody>
            <a:bodyPr anchorCtr="0" anchor="ctr" bIns="97850" lIns="97850" spcFirstLastPara="1" rIns="97850" wrap="square" tIns="97850">
              <a:no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000000"/>
                  </a:solidFill>
                  <a:latin typeface="Arial"/>
                  <a:ea typeface="Arial"/>
                  <a:cs typeface="Arial"/>
                  <a:sym typeface="Arial"/>
                </a:rPr>
                <a:t>Your feedback helps us improve. Share your thoughts!</a:t>
              </a:r>
              <a:br>
                <a:rPr b="0" i="0" lang="en" sz="1400" u="none" cap="none" strike="noStrike">
                  <a:solidFill>
                    <a:srgbClr val="000000"/>
                  </a:solidFill>
                  <a:latin typeface="Arial"/>
                  <a:ea typeface="Arial"/>
                  <a:cs typeface="Arial"/>
                  <a:sym typeface="Arial"/>
                </a:rPr>
              </a:br>
              <a:r>
                <a:rPr b="1" i="0" lang="en" sz="1400" u="none" cap="none" strike="noStrike">
                  <a:solidFill>
                    <a:srgbClr val="000000"/>
                  </a:solidFill>
                  <a:latin typeface="Arial"/>
                  <a:ea typeface="Arial"/>
                  <a:cs typeface="Arial"/>
                  <a:sym typeface="Arial"/>
                </a:rPr>
                <a:t>Go to our website: </a:t>
              </a:r>
              <a:r>
                <a:rPr b="0" i="0" lang="en" sz="1400" u="none" cap="none" strike="noStrike">
                  <a:solidFill>
                    <a:srgbClr val="000000"/>
                  </a:solidFill>
                  <a:latin typeface="Arial"/>
                  <a:ea typeface="Arial"/>
                  <a:cs typeface="Arial"/>
                  <a:sym typeface="Arial"/>
                </a:rPr>
                <a:t>go.fiu.edu/codecrunch</a:t>
              </a:r>
              <a:endParaRPr b="0" i="0" sz="1400" u="none" cap="none" strike="noStrike">
                <a:solidFill>
                  <a:srgbClr val="000000"/>
                </a:solidFill>
                <a:latin typeface="Arial"/>
                <a:ea typeface="Arial"/>
                <a:cs typeface="Arial"/>
                <a:sym typeface="Arial"/>
              </a:endParaRPr>
            </a:p>
          </p:txBody>
        </p:sp>
      </p:grpSp>
      <p:pic>
        <p:nvPicPr>
          <p:cNvPr id="342" name="Google Shape;342;p37"/>
          <p:cNvPicPr preferRelativeResize="0"/>
          <p:nvPr/>
        </p:nvPicPr>
        <p:blipFill rotWithShape="1">
          <a:blip r:embed="rId7">
            <a:alphaModFix/>
          </a:blip>
          <a:srcRect b="0" l="0" r="0" t="0"/>
          <a:stretch/>
        </p:blipFill>
        <p:spPr>
          <a:xfrm>
            <a:off x="1282027" y="3475350"/>
            <a:ext cx="1096474" cy="1085075"/>
          </a:xfrm>
          <a:prstGeom prst="rect">
            <a:avLst/>
          </a:prstGeom>
          <a:noFill/>
          <a:ln>
            <a:noFill/>
          </a:ln>
        </p:spPr>
      </p:pic>
      <p:pic>
        <p:nvPicPr>
          <p:cNvPr id="343" name="Google Shape;343;p37"/>
          <p:cNvPicPr preferRelativeResize="0"/>
          <p:nvPr/>
        </p:nvPicPr>
        <p:blipFill rotWithShape="1">
          <a:blip r:embed="rId8">
            <a:alphaModFix/>
          </a:blip>
          <a:srcRect b="0" l="0" r="0" t="0"/>
          <a:stretch/>
        </p:blipFill>
        <p:spPr>
          <a:xfrm>
            <a:off x="1019513" y="813394"/>
            <a:ext cx="1628924" cy="1628945"/>
          </a:xfrm>
          <a:prstGeom prst="rect">
            <a:avLst/>
          </a:prstGeom>
          <a:noFill/>
          <a:ln>
            <a:noFill/>
          </a:ln>
        </p:spPr>
      </p:pic>
      <p:sp>
        <p:nvSpPr>
          <p:cNvPr id="344" name="Google Shape;344;p37"/>
          <p:cNvSpPr txBox="1"/>
          <p:nvPr/>
        </p:nvSpPr>
        <p:spPr>
          <a:xfrm>
            <a:off x="740500" y="4692925"/>
            <a:ext cx="2342100" cy="3672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linktr.ee/CODE.CRUNCH</a:t>
            </a:r>
            <a:endParaRPr b="0" i="0" sz="1500" u="none" cap="none" strike="noStrike">
              <a:solidFill>
                <a:schemeClr val="lt1"/>
              </a:solidFill>
              <a:latin typeface="Arial"/>
              <a:ea typeface="Arial"/>
              <a:cs typeface="Arial"/>
              <a:sym typeface="Arial"/>
            </a:endParaRPr>
          </a:p>
        </p:txBody>
      </p:sp>
      <p:pic>
        <p:nvPicPr>
          <p:cNvPr id="345" name="Google Shape;345;p37"/>
          <p:cNvPicPr preferRelativeResize="0"/>
          <p:nvPr/>
        </p:nvPicPr>
        <p:blipFill rotWithShape="1">
          <a:blip r:embed="rId9">
            <a:alphaModFix/>
          </a:blip>
          <a:srcRect b="0" l="0" r="0" t="0"/>
          <a:stretch/>
        </p:blipFill>
        <p:spPr>
          <a:xfrm>
            <a:off x="360850" y="4612025"/>
            <a:ext cx="367200" cy="367200"/>
          </a:xfrm>
          <a:prstGeom prst="rect">
            <a:avLst/>
          </a:prstGeom>
          <a:solidFill>
            <a:srgbClr val="FFFFFF"/>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