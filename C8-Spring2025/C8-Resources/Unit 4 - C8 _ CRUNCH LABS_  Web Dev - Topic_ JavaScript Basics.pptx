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embeddedFontLst>
    <p:embeddedFont>
      <p:font typeface="Roboto"/>
      <p:regular r:id="rId44"/>
      <p:bold r:id="rId45"/>
      <p:italic r:id="rId46"/>
      <p:boldItalic r:id="rId47"/>
    </p:embeddedFont>
    <p:embeddedFont>
      <p:font typeface="Roboto Mono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2" roundtripDataSignature="AMtx7mhk6exWLLbRJLZYuVypGi4NX9O3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Roboto-regular.fntdata"/><Relationship Id="rId43" Type="http://schemas.openxmlformats.org/officeDocument/2006/relationships/slide" Target="slides/slide38.xml"/><Relationship Id="rId46" Type="http://schemas.openxmlformats.org/officeDocument/2006/relationships/font" Target="fonts/Roboto-italic.fntdata"/><Relationship Id="rId45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regular.fntdata"/><Relationship Id="rId47" Type="http://schemas.openxmlformats.org/officeDocument/2006/relationships/font" Target="fonts/Roboto-boldItalic.fntdata"/><Relationship Id="rId49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ono-boldItalic.fntdata"/><Relationship Id="rId50" Type="http://schemas.openxmlformats.org/officeDocument/2006/relationships/font" Target="fonts/RobotoMono-italic.fntdata"/><Relationship Id="rId52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834436e1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g2d834436e1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0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0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0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40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4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1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1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" name="Google Shape;20;p4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1" name="Google Shape;21;p4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" name="Google Shape;26;p4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9" name="Google Shape;29;p4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4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4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4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0" name="Google Shape;40;p46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46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4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7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7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" name="Google Shape;47;p4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8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8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8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48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4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4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4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4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65" name="Google Shape;65;p5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5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p5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3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3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16750" y="0"/>
            <a:ext cx="1127250" cy="11272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d834436e15_0_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ogo on a blue background&#10;&#10;Description automatically generated" id="75" name="Google Shape;75;g2d834436e15_0_0"/>
          <p:cNvPicPr preferRelativeResize="0"/>
          <p:nvPr/>
        </p:nvPicPr>
        <p:blipFill rotWithShape="1">
          <a:blip r:embed="rId3">
            <a:alphaModFix/>
          </a:blip>
          <a:srcRect b="0" l="0" r="2780" t="0"/>
          <a:stretch/>
        </p:blipFill>
        <p:spPr>
          <a:xfrm>
            <a:off x="3082595" y="8"/>
            <a:ext cx="6061405" cy="5143500"/>
          </a:xfrm>
          <a:custGeom>
            <a:rect b="b" l="l" r="r" t="t"/>
            <a:pathLst>
              <a:path extrusionOk="0" h="6858000" w="8081873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76" name="Google Shape;76;g2d834436e15_0_0"/>
          <p:cNvSpPr/>
          <p:nvPr/>
        </p:nvSpPr>
        <p:spPr>
          <a:xfrm>
            <a:off x="0" y="0"/>
            <a:ext cx="3719285" cy="5143500"/>
          </a:xfrm>
          <a:custGeom>
            <a:rect b="b" l="l" r="r" t="t"/>
            <a:pathLst>
              <a:path extrusionOk="0" h="6858000" w="4959047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9E5F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2902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2d834436e15_0_0"/>
          <p:cNvSpPr/>
          <p:nvPr/>
        </p:nvSpPr>
        <p:spPr>
          <a:xfrm>
            <a:off x="0" y="0"/>
            <a:ext cx="3711665" cy="5143500"/>
          </a:xfrm>
          <a:custGeom>
            <a:rect b="b" l="l" r="r" t="t"/>
            <a:pathLst>
              <a:path extrusionOk="0" h="6858000" w="4948887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2d834436e15_0_0"/>
          <p:cNvSpPr/>
          <p:nvPr/>
        </p:nvSpPr>
        <p:spPr>
          <a:xfrm>
            <a:off x="360772" y="3410190"/>
            <a:ext cx="30174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2d834436e15_0_0"/>
          <p:cNvSpPr txBox="1"/>
          <p:nvPr/>
        </p:nvSpPr>
        <p:spPr>
          <a:xfrm>
            <a:off x="740500" y="4692925"/>
            <a:ext cx="234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2d834436e15_0_0"/>
          <p:cNvSpPr txBox="1"/>
          <p:nvPr/>
        </p:nvSpPr>
        <p:spPr>
          <a:xfrm>
            <a:off x="285250" y="3675300"/>
            <a:ext cx="1553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3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  <a:r>
              <a:rPr b="1" i="0" lang="en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g2d834436e15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850" y="4612025"/>
            <a:ext cx="367200" cy="367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82" name="Google Shape;82;g2d834436e15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7999" y="3515925"/>
            <a:ext cx="1096474" cy="10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2d834436e15_0_0"/>
          <p:cNvSpPr/>
          <p:nvPr/>
        </p:nvSpPr>
        <p:spPr>
          <a:xfrm>
            <a:off x="3719275" y="0"/>
            <a:ext cx="54249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2d834436e15_0_0"/>
          <p:cNvSpPr/>
          <p:nvPr/>
        </p:nvSpPr>
        <p:spPr>
          <a:xfrm rot="10800000">
            <a:off x="2979225" y="0"/>
            <a:ext cx="2509950" cy="5143500"/>
          </a:xfrm>
          <a:prstGeom prst="flowChartOnlineStorag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g2d834436e15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14700" y="0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2d834436e15_0_0"/>
          <p:cNvSpPr txBox="1"/>
          <p:nvPr/>
        </p:nvSpPr>
        <p:spPr>
          <a:xfrm>
            <a:off x="1990300" y="-109500"/>
            <a:ext cx="471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2d834436e15_0_0"/>
          <p:cNvSpPr txBox="1"/>
          <p:nvPr/>
        </p:nvSpPr>
        <p:spPr>
          <a:xfrm>
            <a:off x="62700" y="294802"/>
            <a:ext cx="32838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Welcome to Code Crunch!</a:t>
            </a:r>
            <a:endParaRPr b="1"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" sz="3500"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lang="en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lang="en" sz="3500">
                <a:solidFill>
                  <a:srgbClr val="000000"/>
                </a:solidFill>
              </a:rPr>
              <a:t>Crunch </a:t>
            </a:r>
            <a:r>
              <a:rPr b="1" lang="en" sz="3500"/>
              <a:t>Labs: Web Dev</a:t>
            </a:r>
            <a:endParaRPr b="1"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78"/>
              <a:t>THU 3-4PM Weekly | Spring 2025</a:t>
            </a:r>
            <a:endParaRPr b="1" sz="3500">
              <a:solidFill>
                <a:srgbClr val="000000"/>
              </a:solidFill>
            </a:endParaRPr>
          </a:p>
        </p:txBody>
      </p:sp>
      <p:sp>
        <p:nvSpPr>
          <p:cNvPr id="88" name="Google Shape;88;g2d834436e15_0_0"/>
          <p:cNvSpPr txBox="1"/>
          <p:nvPr/>
        </p:nvSpPr>
        <p:spPr>
          <a:xfrm>
            <a:off x="360775" y="4073800"/>
            <a:ext cx="1553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"/>
              <a:buFont typeface="Arial"/>
              <a:buNone/>
            </a:pPr>
            <a:r>
              <a:rPr b="1" lang="en" sz="900"/>
              <a:t>Earn a Certificate of Completion by attending at least 70% of the workshops</a:t>
            </a:r>
            <a:endParaRPr b="0" i="0" sz="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Week #4</a:t>
            </a:r>
            <a:endParaRPr/>
          </a:p>
        </p:txBody>
      </p:sp>
      <p:sp>
        <p:nvSpPr>
          <p:cNvPr id="94" name="Google Shape;94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Understanding JavaScript Fundamentals and the Document Object Model (DOM)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Introduction to the Week’s Topic</a:t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1800"/>
              <a:t>Overview</a:t>
            </a:r>
            <a:r>
              <a:rPr lang="en" sz="1800"/>
              <a:t>: In this lesson, we will dive into </a:t>
            </a:r>
            <a:r>
              <a:rPr b="1" lang="en" sz="1800"/>
              <a:t>JavaScript</a:t>
            </a:r>
            <a:r>
              <a:rPr lang="en" sz="1800"/>
              <a:t>, one of the core languages for web development. We’ll cover the basics of JavaScript syntax, variables, data types, and functions. We’ll also be introducing the </a:t>
            </a:r>
            <a:r>
              <a:rPr b="1" lang="en" sz="1800"/>
              <a:t>Document Object Model (DOM)</a:t>
            </a:r>
            <a:r>
              <a:rPr lang="en" sz="1800"/>
              <a:t> and how JavaScript interacts with it.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800"/>
              <a:t>Real-World Relevance</a:t>
            </a:r>
            <a:r>
              <a:rPr lang="en" sz="1800"/>
              <a:t>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JavaScript powers much of the interactivity on modern websites.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Through JavaScript and DOM manipulation, we can make dynamic web pages that respond to user actions, such as clicks, form submissions, and more.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Key Concepts for Today’s Lecture</a:t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400"/>
              <a:t>Concepts Covered</a:t>
            </a:r>
            <a:r>
              <a:rPr lang="en" sz="2400"/>
              <a:t>: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JavaScript fundamentals: variables, data types, and functions.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Introduction to the Document Object Model (DOM).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DOM manipulation for interactivity.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Introduction to JavaScript</a:t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What is JavaScript?</a:t>
            </a:r>
            <a:endParaRPr b="1"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JavaScript is a programming language used to add interactivity and dynamic behavior to websites.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It runs in the browser and allows developers to manipulate elements on the webpage in real time.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It is often used for tasks like form validation, event handling, animations, and fetching data from external sources.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JavaScript Syntax and Structure</a:t>
            </a:r>
            <a:endParaRPr/>
          </a:p>
        </p:txBody>
      </p:sp>
      <p:sp>
        <p:nvSpPr>
          <p:cNvPr id="118" name="Google Shape;118;p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1900"/>
              <a:t>Basic Syntax</a:t>
            </a:r>
            <a:r>
              <a:rPr lang="en" sz="1900"/>
              <a:t>: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JavaScript is a case-sensitive language, so variable names and function names must be written consistently.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Code is executed line by line from top to bottom.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Comments: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Single-line comments: </a:t>
            </a:r>
            <a:r>
              <a:rPr lang="en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// This is a comment</a:t>
            </a:r>
            <a:endParaRPr sz="1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Multi-line comments: </a:t>
            </a:r>
            <a:r>
              <a:rPr lang="en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/* This is a multi-line comment */</a:t>
            </a:r>
            <a:endParaRPr sz="1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900" y="1811050"/>
            <a:ext cx="9437824" cy="152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Variables and Data Types</a:t>
            </a:r>
            <a:endParaRPr/>
          </a:p>
        </p:txBody>
      </p:sp>
      <p:sp>
        <p:nvSpPr>
          <p:cNvPr id="129" name="Google Shape;129;p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335"/>
              <a:t>Variables in JavaScript</a:t>
            </a:r>
            <a:r>
              <a:rPr lang="en" sz="1335"/>
              <a:t>:</a:t>
            </a:r>
            <a:endParaRPr sz="1335"/>
          </a:p>
          <a:p>
            <a:pPr indent="-31337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35"/>
              <a:buChar char="●"/>
            </a:pPr>
            <a:r>
              <a:rPr lang="en" sz="1335"/>
              <a:t>Variables store data that can be referenced and manipulated in a program.</a:t>
            </a:r>
            <a:endParaRPr sz="1335"/>
          </a:p>
          <a:p>
            <a:pPr indent="-3133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35"/>
              <a:buChar char="●"/>
            </a:pPr>
            <a:r>
              <a:rPr lang="en" sz="1335"/>
              <a:t>Use </a:t>
            </a:r>
            <a:r>
              <a:rPr lang="en" sz="13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var</a:t>
            </a:r>
            <a:r>
              <a:rPr lang="en" sz="1335"/>
              <a:t>, </a:t>
            </a:r>
            <a:r>
              <a:rPr lang="en" sz="13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en" sz="1335"/>
              <a:t>, or </a:t>
            </a:r>
            <a:r>
              <a:rPr lang="en" sz="13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335"/>
              <a:t> to declare variables.</a:t>
            </a:r>
            <a:endParaRPr sz="1335"/>
          </a:p>
          <a:p>
            <a:pPr indent="-31337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35"/>
              <a:buChar char="○"/>
            </a:pPr>
            <a:r>
              <a:rPr lang="en" sz="13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var</a:t>
            </a:r>
            <a:r>
              <a:rPr lang="en" sz="1335"/>
              <a:t>: Older method (use cautiously).</a:t>
            </a:r>
            <a:endParaRPr sz="1335"/>
          </a:p>
          <a:p>
            <a:pPr indent="-31337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35"/>
              <a:buChar char="○"/>
            </a:pPr>
            <a:r>
              <a:rPr lang="en" sz="13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en" sz="1335"/>
              <a:t>: Declares a block-scoped variable.</a:t>
            </a:r>
            <a:endParaRPr sz="1335"/>
          </a:p>
          <a:p>
            <a:pPr indent="-31337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35"/>
              <a:buChar char="○"/>
            </a:pPr>
            <a:r>
              <a:rPr lang="en" sz="13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335"/>
              <a:t>: Declares a block-scoped variable that cannot be reassigned.</a:t>
            </a:r>
            <a:endParaRPr sz="133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335"/>
              <a:t>Data Types</a:t>
            </a:r>
            <a:r>
              <a:rPr lang="en" sz="1335"/>
              <a:t>:</a:t>
            </a:r>
            <a:endParaRPr sz="1335"/>
          </a:p>
          <a:p>
            <a:pPr indent="-31337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35"/>
              <a:buChar char="●"/>
            </a:pPr>
            <a:r>
              <a:rPr b="1" lang="en" sz="1335"/>
              <a:t>String</a:t>
            </a:r>
            <a:r>
              <a:rPr lang="en" sz="1335"/>
              <a:t>: Represents text data.</a:t>
            </a:r>
            <a:endParaRPr sz="1335"/>
          </a:p>
          <a:p>
            <a:pPr indent="-3133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35"/>
              <a:buChar char="●"/>
            </a:pPr>
            <a:r>
              <a:rPr b="1" lang="en" sz="1335"/>
              <a:t>Number</a:t>
            </a:r>
            <a:r>
              <a:rPr lang="en" sz="1335"/>
              <a:t>: Represents numeric values.</a:t>
            </a:r>
            <a:endParaRPr sz="1335"/>
          </a:p>
          <a:p>
            <a:pPr indent="-3133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35"/>
              <a:buChar char="●"/>
            </a:pPr>
            <a:r>
              <a:rPr b="1" lang="en" sz="1335"/>
              <a:t>Boolean</a:t>
            </a:r>
            <a:r>
              <a:rPr lang="en" sz="1335"/>
              <a:t>: Represents true or false.</a:t>
            </a:r>
            <a:endParaRPr sz="1335"/>
          </a:p>
          <a:p>
            <a:pPr indent="-3133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35"/>
              <a:buChar char="●"/>
            </a:pPr>
            <a:r>
              <a:rPr b="1" lang="en" sz="1335"/>
              <a:t>Array</a:t>
            </a:r>
            <a:r>
              <a:rPr lang="en" sz="1335"/>
              <a:t>: Represents a list of values.</a:t>
            </a:r>
            <a:endParaRPr sz="1335"/>
          </a:p>
          <a:p>
            <a:pPr indent="-3133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35"/>
              <a:buChar char="●"/>
            </a:pPr>
            <a:r>
              <a:rPr b="1" lang="en" sz="1335"/>
              <a:t>Object</a:t>
            </a:r>
            <a:r>
              <a:rPr lang="en" sz="1335"/>
              <a:t>: Represents a collection of key-value pairs.</a:t>
            </a:r>
            <a:endParaRPr sz="133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75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25" y="991650"/>
            <a:ext cx="7723125" cy="24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Functions in JavaScript</a:t>
            </a:r>
            <a:endParaRPr/>
          </a:p>
        </p:txBody>
      </p:sp>
      <p:sp>
        <p:nvSpPr>
          <p:cNvPr id="140" name="Google Shape;140;p1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1900"/>
              <a:t>What is a Function?</a:t>
            </a:r>
            <a:endParaRPr b="1"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 function is a block of code designed to perform a particular task. Functions help to organize and reuse code.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900"/>
              <a:t>Defining a Function</a:t>
            </a:r>
            <a:r>
              <a:rPr lang="en" sz="1900"/>
              <a:t>: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Use the </a:t>
            </a:r>
            <a:r>
              <a:rPr lang="en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en" sz="1900"/>
              <a:t> keyword to define a function.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Functions can take inputs (parameters) and return outputs (return values).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54050"/>
            <a:ext cx="9599850" cy="20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1"/>
          <p:cNvSpPr txBox="1"/>
          <p:nvPr/>
        </p:nvSpPr>
        <p:spPr>
          <a:xfrm>
            <a:off x="412225" y="3202000"/>
            <a:ext cx="75282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Parameters and Arguments</a:t>
            </a:r>
            <a:r>
              <a:rPr b="0" i="0" lang="en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0" i="0" lang="en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function can accept parameters (inputs) that are used inside the function.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0" i="0" lang="en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When calling the function, you provide </a:t>
            </a:r>
            <a:r>
              <a:rPr b="1" i="0" lang="en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arguments</a:t>
            </a:r>
            <a:r>
              <a:rPr b="0" i="0" lang="en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for those parameters.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Introduction to the Document Object Model (DOM)</a:t>
            </a:r>
            <a:endParaRPr/>
          </a:p>
        </p:txBody>
      </p:sp>
      <p:sp>
        <p:nvSpPr>
          <p:cNvPr id="152" name="Google Shape;152;p1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/>
              <a:t>What is the DOM?</a:t>
            </a:r>
            <a:endParaRPr b="1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The Document Object Model (DOM) represents the structure of an HTML document as an object tree.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JavaScript can be used to manipulate the DOM to add interactivity and dynamically change the content of a webpage.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/>
              <a:t>DOM Structure</a:t>
            </a:r>
            <a:r>
              <a:rPr lang="en"/>
              <a:t>: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The DOM is structured in a tree format with the root element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&lt;html&gt;</a:t>
            </a:r>
            <a:r>
              <a:rPr lang="en"/>
              <a:t>) at the top and various child nodes (e.g.,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&lt;head&gt;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&lt;body&gt;</a:t>
            </a:r>
            <a:r>
              <a:rPr lang="en"/>
              <a:t>, and all other HTML elements).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Each element, attribute, and piece of text in the document is represented as a node in the DOM tree.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7860175" cy="29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Accessing DOM Elements with JavaScript</a:t>
            </a:r>
            <a:endParaRPr/>
          </a:p>
        </p:txBody>
      </p:sp>
      <p:sp>
        <p:nvSpPr>
          <p:cNvPr id="163" name="Google Shape;163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900"/>
              <a:t>How to Access DOM Elements</a:t>
            </a:r>
            <a:r>
              <a:rPr lang="en" sz="1900"/>
              <a:t>: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You can access DOM elements using JavaScript through methods like </a:t>
            </a:r>
            <a:r>
              <a:rPr lang="en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getElementById()</a:t>
            </a:r>
            <a:r>
              <a:rPr lang="en" sz="1900"/>
              <a:t>, </a:t>
            </a:r>
            <a:r>
              <a:rPr lang="en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getElementsByClassName()</a:t>
            </a:r>
            <a:r>
              <a:rPr lang="en" sz="1900"/>
              <a:t>, or </a:t>
            </a:r>
            <a:r>
              <a:rPr lang="en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querySelector()</a:t>
            </a:r>
            <a:r>
              <a:rPr lang="en" sz="1900"/>
              <a:t>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966600"/>
            <a:ext cx="8991599" cy="152039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5"/>
          <p:cNvSpPr txBox="1"/>
          <p:nvPr/>
        </p:nvSpPr>
        <p:spPr>
          <a:xfrm>
            <a:off x="501050" y="2872375"/>
            <a:ext cx="70008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getElementById()</a:t>
            </a: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Accesses an element by its unique ID.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querySelector()</a:t>
            </a: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Accesses the first element that matches a CSS selector.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Manipulating DOM Elements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Changing Content | Use .innerHTML or .textContent to change the content of elements.</a:t>
            </a:r>
            <a:endParaRPr/>
          </a:p>
        </p:txBody>
      </p:sp>
      <p:sp>
        <p:nvSpPr>
          <p:cNvPr id="180" name="Google Shape;180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181" name="Google Shape;1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005" y="2031825"/>
            <a:ext cx="8406000" cy="1245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Changing Styles | Use .style to modify the styles of an element dynamically.</a:t>
            </a:r>
            <a:endParaRPr/>
          </a:p>
        </p:txBody>
      </p:sp>
      <p:sp>
        <p:nvSpPr>
          <p:cNvPr id="187" name="Google Shape;187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188" name="Google Shape;1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586" y="1849025"/>
            <a:ext cx="8616600" cy="154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Event Handling in JavaScript</a:t>
            </a:r>
            <a:endParaRPr/>
          </a:p>
        </p:txBody>
      </p:sp>
      <p:sp>
        <p:nvSpPr>
          <p:cNvPr id="194" name="Google Shape;194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300"/>
              <a:t>Event Listeners</a:t>
            </a:r>
            <a:r>
              <a:rPr lang="en" sz="2300"/>
              <a:t>: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JavaScript can be used to listen for user interactions, such as clicks, key presses, etc.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Use 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.addEventListener()</a:t>
            </a:r>
            <a:r>
              <a:rPr lang="en" sz="2300"/>
              <a:t> to attach events to DOM elements.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363" y="954075"/>
            <a:ext cx="8895275" cy="20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Summary of Key Points</a:t>
            </a:r>
            <a:endParaRPr/>
          </a:p>
        </p:txBody>
      </p:sp>
      <p:sp>
        <p:nvSpPr>
          <p:cNvPr id="205" name="Google Shape;205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1900"/>
              <a:t>JavaScript Basics</a:t>
            </a:r>
            <a:r>
              <a:rPr lang="en" sz="1900"/>
              <a:t>: Variables, data types, and functions are the building blocks of JavaScript.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900"/>
              <a:t>DOM Manipulation</a:t>
            </a:r>
            <a:r>
              <a:rPr lang="en" sz="1900"/>
              <a:t>: JavaScript enables you to dynamically interact with and modify the content and structure of your web page using the DOM.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900"/>
              <a:t>Event Handling</a:t>
            </a:r>
            <a:r>
              <a:rPr lang="en" sz="1900"/>
              <a:t>: You can capture user interactions like clicks and apply dynamic changes to the page.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Coding Lab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Introduction to the Coding Lab</a:t>
            </a:r>
            <a:endParaRPr/>
          </a:p>
        </p:txBody>
      </p:sp>
      <p:sp>
        <p:nvSpPr>
          <p:cNvPr id="216" name="Google Shape;216;p2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1900"/>
              <a:t>Objective</a:t>
            </a:r>
            <a:r>
              <a:rPr lang="en" sz="1900"/>
              <a:t>: In this lab, you will use JavaScript to add interactivity to your website. You will manipulate the DOM to update content, styles, and handle user input.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900"/>
              <a:t>Skills Covered</a:t>
            </a:r>
            <a:r>
              <a:rPr lang="en" sz="1900"/>
              <a:t>: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Accessing and modifying DOM elements.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Adding event listeners for interactivity.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Using JavaScript functions to handle dynamic changes.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Step 2: Create a new file named script.js and link it to your index.html file.</a:t>
            </a:r>
            <a:endParaRPr/>
          </a:p>
        </p:txBody>
      </p:sp>
      <p:sp>
        <p:nvSpPr>
          <p:cNvPr id="222" name="Google Shape;222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223" name="Google Shape;22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525" y="2256750"/>
            <a:ext cx="8541600" cy="1184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Task 1 - Change Text Content Dynamically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Add an HTML element with an ID</a:t>
            </a:r>
            <a:endParaRPr/>
          </a:p>
        </p:txBody>
      </p:sp>
      <p:sp>
        <p:nvSpPr>
          <p:cNvPr id="234" name="Google Shape;234;p2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235" name="Google Shape;2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275" y="1919075"/>
            <a:ext cx="8456700" cy="1245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 script.js, add the following code</a:t>
            </a:r>
            <a:endParaRPr/>
          </a:p>
        </p:txBody>
      </p:sp>
      <p:sp>
        <p:nvSpPr>
          <p:cNvPr id="241" name="Google Shape;241;p2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242" name="Google Shape;24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450" y="1865350"/>
            <a:ext cx="8676300" cy="237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Task 2 - Change Styles Dynamically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Add an HTML element with an ID</a:t>
            </a:r>
            <a:endParaRPr/>
          </a:p>
        </p:txBody>
      </p:sp>
      <p:sp>
        <p:nvSpPr>
          <p:cNvPr id="253" name="Google Shape;253;p2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254" name="Google Shape;25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553" y="1919075"/>
            <a:ext cx="8724900" cy="1007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 script.js, add the following code</a:t>
            </a:r>
            <a:endParaRPr/>
          </a:p>
        </p:txBody>
      </p:sp>
      <p:sp>
        <p:nvSpPr>
          <p:cNvPr id="260" name="Google Shape;260;p3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261" name="Google Shape;26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207" y="1785925"/>
            <a:ext cx="8676900" cy="243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Task 3 - User Input Handling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272" name="Google Shape;272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Create an input field and button in HTML</a:t>
            </a:r>
            <a:endParaRPr/>
          </a:p>
        </p:txBody>
      </p:sp>
      <p:pic>
        <p:nvPicPr>
          <p:cNvPr id="273" name="Google Shape;27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262" y="1863737"/>
            <a:ext cx="8940900" cy="235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 script.js, add the following code</a:t>
            </a:r>
            <a:endParaRPr/>
          </a:p>
        </p:txBody>
      </p:sp>
      <p:sp>
        <p:nvSpPr>
          <p:cNvPr id="279" name="Google Shape;279;p3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280" name="Google Shape;28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856" y="1817931"/>
            <a:ext cx="9015600" cy="2811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Debugging and Troubleshooting</a:t>
            </a:r>
            <a:endParaRPr/>
          </a:p>
        </p:txBody>
      </p:sp>
      <p:sp>
        <p:nvSpPr>
          <p:cNvPr id="286" name="Google Shape;286;p3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Common Issues</a:t>
            </a:r>
            <a:r>
              <a:rPr lang="en" sz="2100"/>
              <a:t>: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JavaScript not executing: Ensure your script is correctly linked to your HTML file.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DOM elements not found: Double-check element IDs in your HTML and JavaScript.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Solution</a:t>
            </a:r>
            <a:r>
              <a:rPr lang="en" sz="2100"/>
              <a:t>: Use browser developer tools (Console and Inspector) to debug your JavaScript.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Code Review</a:t>
            </a:r>
            <a:endParaRPr/>
          </a:p>
        </p:txBody>
      </p:sp>
      <p:sp>
        <p:nvSpPr>
          <p:cNvPr id="292" name="Google Shape;292;p3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300"/>
              <a:t>Walkthrough</a:t>
            </a:r>
            <a:r>
              <a:rPr lang="en" sz="2300"/>
              <a:t>: Review the solutions for all tasks.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Ensure students understand how to access and modify DOM elements and handle events.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Q &amp; A Session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https://github.com/CODE-CRUNCH-CLUB/C8-CRUNCH-LABS-WEB-DEV</a:t>
            </a:r>
            <a:endParaRPr/>
          </a:p>
        </p:txBody>
      </p:sp>
      <p:pic>
        <p:nvPicPr>
          <p:cNvPr id="303" name="Google Shape;30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8125" y="2716325"/>
            <a:ext cx="2121850" cy="212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8"/>
          <p:cNvSpPr/>
          <p:nvPr/>
        </p:nvSpPr>
        <p:spPr>
          <a:xfrm>
            <a:off x="0" y="0"/>
            <a:ext cx="36681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8"/>
          <p:cNvSpPr txBox="1"/>
          <p:nvPr>
            <p:ph type="title"/>
          </p:nvPr>
        </p:nvSpPr>
        <p:spPr>
          <a:xfrm>
            <a:off x="630113" y="2525831"/>
            <a:ext cx="24003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</a:pPr>
            <a:r>
              <a:rPr lang="en">
                <a:solidFill>
                  <a:schemeClr val="lt1"/>
                </a:solidFill>
              </a:rPr>
              <a:t>Attendance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312" name="Google Shape;312;p38"/>
          <p:cNvGrpSpPr/>
          <p:nvPr/>
        </p:nvGrpSpPr>
        <p:grpSpPr>
          <a:xfrm>
            <a:off x="0" y="152182"/>
            <a:ext cx="1432688" cy="532245"/>
            <a:chOff x="2267504" y="2540250"/>
            <a:chExt cx="1990951" cy="739640"/>
          </a:xfrm>
        </p:grpSpPr>
        <p:sp>
          <p:nvSpPr>
            <p:cNvPr id="313" name="Google Shape;313;p38"/>
            <p:cNvSpPr/>
            <p:nvPr/>
          </p:nvSpPr>
          <p:spPr>
            <a:xfrm>
              <a:off x="2267504" y="254025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8"/>
            <p:cNvSpPr/>
            <p:nvPr/>
          </p:nvSpPr>
          <p:spPr>
            <a:xfrm>
              <a:off x="2267504" y="299366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5" name="Google Shape;315;p38"/>
          <p:cNvSpPr/>
          <p:nvPr/>
        </p:nvSpPr>
        <p:spPr>
          <a:xfrm>
            <a:off x="304695" y="3564156"/>
            <a:ext cx="273900" cy="273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8"/>
          <p:cNvSpPr/>
          <p:nvPr/>
        </p:nvSpPr>
        <p:spPr>
          <a:xfrm>
            <a:off x="304695" y="3564156"/>
            <a:ext cx="273900" cy="273900"/>
          </a:xfrm>
          <a:prstGeom prst="ellipse">
            <a:avLst/>
          </a:prstGeom>
          <a:solidFill>
            <a:schemeClr val="accent6">
              <a:alpha val="29019"/>
            </a:schemeClr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" name="Google Shape;317;p38"/>
          <p:cNvGrpSpPr/>
          <p:nvPr/>
        </p:nvGrpSpPr>
        <p:grpSpPr>
          <a:xfrm>
            <a:off x="3082210" y="4154929"/>
            <a:ext cx="731373" cy="731374"/>
            <a:chOff x="5829300" y="3162300"/>
            <a:chExt cx="532256" cy="532257"/>
          </a:xfrm>
        </p:grpSpPr>
        <p:sp>
          <p:nvSpPr>
            <p:cNvPr id="318" name="Google Shape;318;p38"/>
            <p:cNvSpPr/>
            <p:nvPr/>
          </p:nvSpPr>
          <p:spPr>
            <a:xfrm>
              <a:off x="5859208" y="3192208"/>
              <a:ext cx="112966" cy="112966"/>
            </a:xfrm>
            <a:custGeom>
              <a:rect b="b" l="l" r="r" t="t"/>
              <a:pathLst>
                <a:path extrusionOk="0" h="112966" w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8"/>
            <p:cNvSpPr/>
            <p:nvPr/>
          </p:nvSpPr>
          <p:spPr>
            <a:xfrm>
              <a:off x="5831205" y="3164205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8"/>
            <p:cNvSpPr/>
            <p:nvPr/>
          </p:nvSpPr>
          <p:spPr>
            <a:xfrm>
              <a:off x="5829300" y="3162300"/>
              <a:ext cx="294131" cy="294131"/>
            </a:xfrm>
            <a:custGeom>
              <a:rect b="b" l="l" r="r" t="t"/>
              <a:pathLst>
                <a:path extrusionOk="0" h="294131" w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8"/>
            <p:cNvSpPr/>
            <p:nvPr/>
          </p:nvSpPr>
          <p:spPr>
            <a:xfrm>
              <a:off x="5837205" y="3170110"/>
              <a:ext cx="337184" cy="337280"/>
            </a:xfrm>
            <a:custGeom>
              <a:rect b="b" l="l" r="r" t="t"/>
              <a:pathLst>
                <a:path extrusionOk="0" h="337280" w="337184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8"/>
            <p:cNvSpPr/>
            <p:nvPr/>
          </p:nvSpPr>
          <p:spPr>
            <a:xfrm>
              <a:off x="5853207" y="3186207"/>
              <a:ext cx="364617" cy="364617"/>
            </a:xfrm>
            <a:custGeom>
              <a:rect b="b" l="l" r="r" t="t"/>
              <a:pathLst>
                <a:path extrusionOk="0" h="364617" w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38"/>
            <p:cNvSpPr/>
            <p:nvPr/>
          </p:nvSpPr>
          <p:spPr>
            <a:xfrm>
              <a:off x="5875305" y="3208305"/>
              <a:ext cx="380238" cy="380238"/>
            </a:xfrm>
            <a:custGeom>
              <a:rect b="b" l="l" r="r" t="t"/>
              <a:pathLst>
                <a:path extrusionOk="0" h="380238" w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38"/>
            <p:cNvSpPr/>
            <p:nvPr/>
          </p:nvSpPr>
          <p:spPr>
            <a:xfrm>
              <a:off x="5902832" y="3235832"/>
              <a:ext cx="385191" cy="385191"/>
            </a:xfrm>
            <a:custGeom>
              <a:rect b="b" l="l" r="r" t="t"/>
              <a:pathLst>
                <a:path extrusionOk="0" h="385191" w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38"/>
            <p:cNvSpPr/>
            <p:nvPr/>
          </p:nvSpPr>
          <p:spPr>
            <a:xfrm>
              <a:off x="5935789" y="3268313"/>
              <a:ext cx="379761" cy="380237"/>
            </a:xfrm>
            <a:custGeom>
              <a:rect b="b" l="l" r="r" t="t"/>
              <a:pathLst>
                <a:path extrusionOk="0" h="380237" w="379761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8"/>
            <p:cNvSpPr/>
            <p:nvPr/>
          </p:nvSpPr>
          <p:spPr>
            <a:xfrm>
              <a:off x="5972841" y="3305841"/>
              <a:ext cx="364807" cy="364807"/>
            </a:xfrm>
            <a:custGeom>
              <a:rect b="b" l="l" r="r" t="t"/>
              <a:pathLst>
                <a:path extrusionOk="0" h="364807" w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38"/>
            <p:cNvSpPr/>
            <p:nvPr/>
          </p:nvSpPr>
          <p:spPr>
            <a:xfrm>
              <a:off x="6016370" y="3349466"/>
              <a:ext cx="337280" cy="337280"/>
            </a:xfrm>
            <a:custGeom>
              <a:rect b="b" l="l" r="r" t="t"/>
              <a:pathLst>
                <a:path extrusionOk="0" h="337280" w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38"/>
            <p:cNvSpPr/>
            <p:nvPr/>
          </p:nvSpPr>
          <p:spPr>
            <a:xfrm>
              <a:off x="6067329" y="3400425"/>
              <a:ext cx="294227" cy="294132"/>
            </a:xfrm>
            <a:custGeom>
              <a:rect b="b" l="l" r="r" t="t"/>
              <a:pathLst>
                <a:path extrusionOk="0" h="294132" w="294227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8"/>
            <p:cNvSpPr/>
            <p:nvPr/>
          </p:nvSpPr>
          <p:spPr>
            <a:xfrm>
              <a:off x="6129337" y="3462337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8"/>
            <p:cNvSpPr/>
            <p:nvPr/>
          </p:nvSpPr>
          <p:spPr>
            <a:xfrm>
              <a:off x="6218682" y="3551682"/>
              <a:ext cx="112871" cy="112871"/>
            </a:xfrm>
            <a:custGeom>
              <a:rect b="b" l="l" r="r" t="t"/>
              <a:pathLst>
                <a:path extrusionOk="0" h="112871" w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1" name="Google Shape;331;p38"/>
          <p:cNvGrpSpPr/>
          <p:nvPr/>
        </p:nvGrpSpPr>
        <p:grpSpPr>
          <a:xfrm>
            <a:off x="4057984" y="366431"/>
            <a:ext cx="4836551" cy="4392555"/>
            <a:chOff x="-73494" y="11035"/>
            <a:chExt cx="6448735" cy="5856740"/>
          </a:xfrm>
        </p:grpSpPr>
        <p:sp>
          <p:nvSpPr>
            <p:cNvPr id="332" name="Google Shape;332;p38"/>
            <p:cNvSpPr/>
            <p:nvPr/>
          </p:nvSpPr>
          <p:spPr>
            <a:xfrm>
              <a:off x="-73494" y="1103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8"/>
            <p:cNvSpPr/>
            <p:nvPr/>
          </p:nvSpPr>
          <p:spPr>
            <a:xfrm>
              <a:off x="299486" y="288460"/>
              <a:ext cx="678000" cy="67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8"/>
            <p:cNvSpPr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8"/>
            <p:cNvSpPr txBox="1"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Join us for the next sessions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38"/>
            <p:cNvSpPr/>
            <p:nvPr/>
          </p:nvSpPr>
          <p:spPr>
            <a:xfrm>
              <a:off x="-73494" y="1552282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38"/>
            <p:cNvSpPr/>
            <p:nvPr/>
          </p:nvSpPr>
          <p:spPr>
            <a:xfrm>
              <a:off x="299486" y="1829706"/>
              <a:ext cx="678000" cy="678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38"/>
            <p:cNvSpPr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8"/>
            <p:cNvSpPr txBox="1"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Check our schedule on Discord “Schedule” Channel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38"/>
            <p:cNvSpPr/>
            <p:nvPr/>
          </p:nvSpPr>
          <p:spPr>
            <a:xfrm>
              <a:off x="-73494" y="3093529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38"/>
            <p:cNvSpPr/>
            <p:nvPr/>
          </p:nvSpPr>
          <p:spPr>
            <a:xfrm>
              <a:off x="299486" y="3370953"/>
              <a:ext cx="678000" cy="678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8"/>
            <p:cNvSpPr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8"/>
            <p:cNvSpPr txBox="1"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RSVP lu.ma/CODECRUNCH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8"/>
            <p:cNvSpPr/>
            <p:nvPr/>
          </p:nvSpPr>
          <p:spPr>
            <a:xfrm>
              <a:off x="-73494" y="463477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8"/>
            <p:cNvSpPr/>
            <p:nvPr/>
          </p:nvSpPr>
          <p:spPr>
            <a:xfrm>
              <a:off x="299486" y="4912200"/>
              <a:ext cx="678000" cy="678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8"/>
            <p:cNvSpPr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8"/>
            <p:cNvSpPr txBox="1"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Your feedback helps us improve. Share your thoughts!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 to our website: 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go.fiu.edu/codecrunch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48" name="Google Shape;348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82027" y="3475350"/>
            <a:ext cx="1096474" cy="108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9513" y="813394"/>
            <a:ext cx="1628924" cy="162894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8"/>
          <p:cNvSpPr txBox="1"/>
          <p:nvPr/>
        </p:nvSpPr>
        <p:spPr>
          <a:xfrm>
            <a:off x="740500" y="4692925"/>
            <a:ext cx="234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" name="Google Shape;351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0850" y="4612025"/>
            <a:ext cx="367200" cy="36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