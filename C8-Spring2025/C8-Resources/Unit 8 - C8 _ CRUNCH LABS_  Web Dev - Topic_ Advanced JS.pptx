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hSmiUjc1MEEtmX47bclHobS96v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RobotoMono-bold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Italic.fntdata"/><Relationship Id="rId47" Type="http://schemas.openxmlformats.org/officeDocument/2006/relationships/font" Target="fonts/RobotoMono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8343e67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8343e67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7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7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7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4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5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4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7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youtu.be/RvYYCGs45L4?si=wqhh2PhjznQmOYY6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youtu.be/RvYYCGs45L4?si=wqhh2PhjznQmOYY6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8343e6795_0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g2d8343e6795_0_0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g2d8343e6795_0_0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2d8343e6795_0_0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d8343e6795_0_0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2d8343e6795_0_0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d8343e6795_0_0"/>
          <p:cNvSpPr txBox="1"/>
          <p:nvPr/>
        </p:nvSpPr>
        <p:spPr>
          <a:xfrm>
            <a:off x="285250" y="36753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2d8343e679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2" name="Google Shape;82;g2d8343e679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d8343e6795_0_0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d8343e6795_0_0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2d8343e6795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8343e6795_0_0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2d8343e6795_0_0"/>
          <p:cNvSpPr txBox="1"/>
          <p:nvPr/>
        </p:nvSpPr>
        <p:spPr>
          <a:xfrm>
            <a:off x="62700" y="294802"/>
            <a:ext cx="328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b="1"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35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n" sz="3500">
                <a:solidFill>
                  <a:srgbClr val="000000"/>
                </a:solidFill>
              </a:rPr>
              <a:t>Crunch </a:t>
            </a:r>
            <a:r>
              <a:rPr b="1" lang="en" sz="3500"/>
              <a:t>Labs: Web Dev</a:t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8"/>
              <a:t>THU 3-4PM Weekly | Spring 2025</a:t>
            </a:r>
            <a:endParaRPr b="1" sz="3500">
              <a:solidFill>
                <a:srgbClr val="000000"/>
              </a:solidFill>
            </a:endParaRPr>
          </a:p>
        </p:txBody>
      </p:sp>
      <p:sp>
        <p:nvSpPr>
          <p:cNvPr id="88" name="Google Shape;88;g2d8343e6795_0_0"/>
          <p:cNvSpPr txBox="1"/>
          <p:nvPr/>
        </p:nvSpPr>
        <p:spPr>
          <a:xfrm>
            <a:off x="360775" y="407380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"/>
              <a:buFont typeface="Arial"/>
              <a:buNone/>
            </a:pPr>
            <a:r>
              <a:rPr b="1" lang="en" sz="900"/>
              <a:t>Earn a Certificate of Completion by attending at least 70% of the workshops</a:t>
            </a:r>
            <a:endParaRPr b="0" i="0" sz="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Week #8</a:t>
            </a:r>
            <a:endParaRPr/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Mastering Higher-Order Functions, Callback Functions, and Asynchronous Patterns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Introduction to the Week’s Topic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Overview</a:t>
            </a:r>
            <a:r>
              <a:rPr lang="en"/>
              <a:t>: This week’s lecture focuses on </a:t>
            </a:r>
            <a:r>
              <a:rPr b="1" lang="en"/>
              <a:t>advanced JavaScript concepts</a:t>
            </a:r>
            <a:r>
              <a:rPr lang="en"/>
              <a:t>, particularly </a:t>
            </a:r>
            <a:r>
              <a:rPr b="1" lang="en"/>
              <a:t>higher-order functions</a:t>
            </a:r>
            <a:r>
              <a:rPr lang="en"/>
              <a:t>, </a:t>
            </a:r>
            <a:r>
              <a:rPr b="1" lang="en"/>
              <a:t>callback functions</a:t>
            </a:r>
            <a:r>
              <a:rPr lang="en"/>
              <a:t>, and </a:t>
            </a:r>
            <a:r>
              <a:rPr b="1" lang="en"/>
              <a:t>asynchronous programming</a:t>
            </a:r>
            <a:r>
              <a:rPr lang="en"/>
              <a:t> (Promises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/>
              <a:t>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/>
              <a:t>Real-World Relevance</a:t>
            </a:r>
            <a:r>
              <a:rPr lang="en"/>
              <a:t>: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Higher-order functions</a:t>
            </a:r>
            <a:r>
              <a:rPr lang="en"/>
              <a:t> enable more flexible and reusable code, allowing you to pass functions as arguments or return them from other functions.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Asynchronous programming</a:t>
            </a:r>
            <a:r>
              <a:rPr lang="en"/>
              <a:t> is essential for handling tasks like network requests, ensuring that your application remains responsive while performing time-consuming operations.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600"/>
              <a:t>Concepts Covered</a:t>
            </a:r>
            <a:r>
              <a:rPr lang="en" sz="1600"/>
              <a:t>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Higher-order Functions</a:t>
            </a:r>
            <a:r>
              <a:rPr lang="en" sz="1600"/>
              <a:t>: Functions that accept other functions as arguments or return them as values.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Callback Functions</a:t>
            </a:r>
            <a:r>
              <a:rPr lang="en" sz="1600"/>
              <a:t>: Functions passed into other functions as arguments that are invoked later.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Asynchronous JavaScript</a:t>
            </a:r>
            <a:r>
              <a:rPr lang="en" sz="1600"/>
              <a:t>: Using Promises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1600"/>
              <a:t> to handle operations that take time to complete, like HTTP requests.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Higher-Order Functions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What is a Higher-Order Function?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</a:t>
            </a:r>
            <a:r>
              <a:rPr b="1" lang="en" sz="1700"/>
              <a:t>higher-order function</a:t>
            </a:r>
            <a:r>
              <a:rPr lang="en" sz="1700"/>
              <a:t> is a function that takes one or more functions as arguments, returns a function, or both.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Example</a:t>
            </a:r>
            <a:r>
              <a:rPr lang="en" sz="1700"/>
              <a:t>: The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</a:t>
            </a:r>
            <a:r>
              <a:rPr lang="en" sz="1700"/>
              <a:t> method in JavaScript is a higher-order function because it takes a function as an argument and applies it to each element in an array.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Why Use Higher-Order Functions?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They enable </a:t>
            </a:r>
            <a:r>
              <a:rPr b="1" lang="en" sz="1700"/>
              <a:t>code reuse</a:t>
            </a:r>
            <a:r>
              <a:rPr lang="en" sz="1700"/>
              <a:t> and allow for more </a:t>
            </a:r>
            <a:r>
              <a:rPr b="1" lang="en" sz="1700"/>
              <a:t>dynamic programming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Higher-order functions are commonly used in </a:t>
            </a:r>
            <a:r>
              <a:rPr b="1" lang="en" sz="1700"/>
              <a:t>functional programming</a:t>
            </a:r>
            <a:r>
              <a:rPr lang="en" sz="1700"/>
              <a:t> paradigms.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b="1"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25" y="2291200"/>
            <a:ext cx="8799601" cy="26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"/>
            <a:ext cx="7488600" cy="147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Common Examples of Higher-Order Functions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875" y="3156350"/>
            <a:ext cx="8840250" cy="15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/>
        </p:nvSpPr>
        <p:spPr>
          <a:xfrm>
            <a:off x="152400" y="152400"/>
            <a:ext cx="7368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map(): Creates a new array with the results of calling a provided function on every element in the array.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00" y="3709075"/>
            <a:ext cx="8854800" cy="11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 txBox="1"/>
          <p:nvPr/>
        </p:nvSpPr>
        <p:spPr>
          <a:xfrm>
            <a:off x="0" y="0"/>
            <a:ext cx="7148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filter(): Creates a new array with all elements that pass the test implemented by the provided function.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75" y="3973400"/>
            <a:ext cx="8791650" cy="7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 txBox="1"/>
          <p:nvPr/>
        </p:nvSpPr>
        <p:spPr>
          <a:xfrm>
            <a:off x="0" y="0"/>
            <a:ext cx="74247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reduce()</a:t>
            </a:r>
            <a:r>
              <a:rPr b="0" i="0" lang="e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Applies a function against an accumulator and each element in the array to reduce it to a single value.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Callback Functions</a:t>
            </a:r>
            <a:endParaRPr/>
          </a:p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What is a Callback Function?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</a:t>
            </a:r>
            <a:r>
              <a:rPr b="1" lang="en" sz="1800"/>
              <a:t>callback function</a:t>
            </a:r>
            <a:r>
              <a:rPr lang="en" sz="1800"/>
              <a:t> is a function that is passed into another function as an argument and executed at a later time.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Why Use Callback Functions?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They allow for </a:t>
            </a:r>
            <a:r>
              <a:rPr b="1" lang="en" sz="1800"/>
              <a:t>asynchronous behavior</a:t>
            </a:r>
            <a:r>
              <a:rPr lang="en" sz="1800"/>
              <a:t>: Instead of blocking execution, callbacks are executed after certain operations are complete (e.g., network request, timer).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They are often used in event handling, animations, and server communication.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50" y="123850"/>
            <a:ext cx="6983875" cy="47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 Problems with Callback Functions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700"/>
              <a:t>Callback Hell (Pyramid of Doom)</a:t>
            </a:r>
            <a:r>
              <a:rPr lang="en" sz="2700"/>
              <a:t>: When you nest many callback functions, it can lead to difficult-to-read and hard-to-maintain 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700"/>
              <a:t>NEXT SLIDE Solution</a:t>
            </a:r>
            <a:r>
              <a:rPr lang="en" sz="2700"/>
              <a:t>: This can be solved using </a:t>
            </a:r>
            <a:r>
              <a:rPr b="1" lang="en" sz="2700"/>
              <a:t>Promises</a:t>
            </a:r>
            <a:r>
              <a:rPr lang="en" sz="2700"/>
              <a:t> and </a:t>
            </a:r>
            <a:r>
              <a:rPr lang="en" sz="2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2700"/>
              <a:t>, which we’ll discuss shortly.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277650" cy="48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5166800" y="849888"/>
            <a:ext cx="30000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b="0" i="0" lang="en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This can be solved using </a:t>
            </a:r>
            <a:r>
              <a:rPr b="1" i="0" lang="en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Promises</a:t>
            </a:r>
            <a:r>
              <a:rPr b="0" i="0" lang="en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" sz="27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b="0" i="0" lang="en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which we’ll discuss shortly.</a:t>
            </a:r>
            <a:endParaRPr b="0" i="0" sz="2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Asynchronous JavaScript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What is Asynchronous Programming?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Asynchronous programming allows your program to execute time-consuming tasks (like API calls, file reading) without blocking other operations.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Why is it Important?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enables </a:t>
            </a:r>
            <a:r>
              <a:rPr b="1" lang="en" sz="1700"/>
              <a:t>non-blocking behavior</a:t>
            </a:r>
            <a:r>
              <a:rPr lang="en" sz="1700"/>
              <a:t>, which is crucial for building </a:t>
            </a:r>
            <a:r>
              <a:rPr b="1" lang="en" sz="1700"/>
              <a:t>fast, responsive web applications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Asynchronous tasks</a:t>
            </a:r>
            <a:r>
              <a:rPr lang="en" sz="1700"/>
              <a:t> are often used for operations like retrieving data from a server, animations, or reading files.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Promises in JavaScript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What is a Promise?</a:t>
            </a:r>
            <a:endParaRPr b="1"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 </a:t>
            </a:r>
            <a:r>
              <a:rPr b="1" lang="en" sz="1900"/>
              <a:t>Promise</a:t>
            </a:r>
            <a:r>
              <a:rPr lang="en" sz="1900"/>
              <a:t> is an object that represents the eventual completion or failure of an asynchronous operation.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Why Use Promises?</a:t>
            </a:r>
            <a:endParaRPr b="1"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Promises provide a cleaner, more manageable way to handle asynchronous tasks compared to callbacks.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They help avoid callback hell and allow for better </a:t>
            </a:r>
            <a:r>
              <a:rPr b="1" lang="en" sz="1900"/>
              <a:t>chaining</a:t>
            </a:r>
            <a:r>
              <a:rPr lang="en" sz="1900"/>
              <a:t> of operations.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207775" cy="448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0" y="0"/>
            <a:ext cx="77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https://youtu.be/RvYYCGs45L4?si=wqhh2PhjznQmOYY6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83475" y="4032975"/>
            <a:ext cx="2259000" cy="877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Watch JavaScript Promises by FireShip</a:t>
            </a:r>
            <a:endParaRPr b="1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6163" y="400200"/>
            <a:ext cx="5013275" cy="3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/>
          <p:nvPr/>
        </p:nvSpPr>
        <p:spPr>
          <a:xfrm>
            <a:off x="2818875" y="3981125"/>
            <a:ext cx="5951700" cy="8772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https://youtu.be/RvYYCGs45L4?si=wqhh2PhjznQmOYY6</a:t>
            </a:r>
            <a:endParaRPr b="0" i="0" sz="17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Async/Await in JavaScript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Week 8: Advanced JavaScript Functions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Lecture: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Higher-order functions and callback functions.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Introduction to asynchronous JavaScript (Promises, async/await).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700"/>
              <a:t>Coding Lab: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Refactor your code to use higher-order functions and async patterns for better interactivity.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00" y="1269850"/>
            <a:ext cx="8905800" cy="27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Best Practices for Using Async/Await</a:t>
            </a:r>
            <a:endParaRPr/>
          </a:p>
        </p:txBody>
      </p:sp>
      <p:sp>
        <p:nvSpPr>
          <p:cNvPr id="206" name="Google Shape;206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300"/>
              <a:t>Always handle errors</a:t>
            </a:r>
            <a:r>
              <a:rPr lang="en" sz="2300"/>
              <a:t> using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try/catch</a:t>
            </a:r>
            <a:r>
              <a:rPr lang="en" sz="2300"/>
              <a:t> to prevent unhandled promise rejections.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Keep asynchronous functions simple</a:t>
            </a:r>
            <a:r>
              <a:rPr lang="en" sz="2300"/>
              <a:t>: Avoid long chains of asynchronous functions within the same function. Use separate helper functions if necessary.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825" y="1113675"/>
            <a:ext cx="8784350" cy="31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Real-World Example: Using Promises and Async/Await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/>
              <a:t>Scenario</a:t>
            </a:r>
            <a:r>
              <a:rPr lang="en" sz="2400"/>
              <a:t>: Fetching data from an API and displaying it on the page.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Using Promises or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2400"/>
              <a:t> allows us to handle the asynchronous request and handle the response cleanly without blocking the rest of the program.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Higher-Order Functions</a:t>
            </a:r>
            <a:r>
              <a:rPr lang="en" sz="2100"/>
              <a:t>: Functions that take other functions as arguments or return them.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Callback Functions</a:t>
            </a:r>
            <a:r>
              <a:rPr lang="en" sz="2100"/>
              <a:t>: Functions passed as arguments and invoked at a later time.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100"/>
              <a:t>Promises and </a:t>
            </a:r>
            <a:r>
              <a:rPr b="1"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2100"/>
              <a:t>: Modern tools for handling asynchronous tasks without callback struggle.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Coding Lab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 to the Coding Lab</a:t>
            </a:r>
            <a:endParaRPr/>
          </a:p>
        </p:txBody>
      </p:sp>
      <p:sp>
        <p:nvSpPr>
          <p:cNvPr id="234" name="Google Shape;234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Objective</a:t>
            </a:r>
            <a:r>
              <a:rPr lang="en" sz="1800"/>
              <a:t>: In this lab, you will refactor your existing JavaScript code to implement </a:t>
            </a:r>
            <a:r>
              <a:rPr b="1" lang="en" sz="1800"/>
              <a:t>higher-order functions</a:t>
            </a:r>
            <a:r>
              <a:rPr lang="en" sz="1800"/>
              <a:t> and </a:t>
            </a:r>
            <a:r>
              <a:rPr b="1" lang="en" sz="1800"/>
              <a:t>asynchronous patterns</a:t>
            </a:r>
            <a:r>
              <a:rPr lang="en" sz="1800"/>
              <a:t> like </a:t>
            </a:r>
            <a:r>
              <a:rPr b="1" lang="en" sz="1800"/>
              <a:t>Promises</a:t>
            </a:r>
            <a:r>
              <a:rPr lang="en" sz="1800"/>
              <a:t> and 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1800"/>
              <a:t> for better code organization and improved interactivity.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1800"/>
              <a:t>Skills Covered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Refactor code to use higher-order functions for better reusability.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Implement </a:t>
            </a:r>
            <a:r>
              <a:rPr b="1" lang="en" sz="1800"/>
              <a:t>asynchronous behavior</a:t>
            </a:r>
            <a:r>
              <a:rPr lang="en" sz="1800"/>
              <a:t> with Promises and 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Task 1 - Refactor Code to Use Higher-Order Functions</a:t>
            </a:r>
            <a:endParaRPr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Objective</a:t>
            </a:r>
            <a:r>
              <a:rPr lang="en" sz="2000"/>
              <a:t>: Refactor an existing loop or data processing function to use higher-order functions like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" sz="2000"/>
              <a:t>,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r>
              <a:rPr lang="en" sz="2000"/>
              <a:t>, or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reduce()</a:t>
            </a:r>
            <a:r>
              <a:rPr lang="en" sz="2000"/>
              <a:t>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Example</a:t>
            </a:r>
            <a:r>
              <a:rPr lang="en" sz="2000"/>
              <a:t>: Refactor a simple loop that filters even numbers using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r>
              <a:rPr lang="en" sz="2000"/>
              <a:t>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2400"/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50" y="3625857"/>
            <a:ext cx="7453800" cy="129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Task 2 - Refactor Code to Use Callback Functions</a:t>
            </a:r>
            <a:endParaRPr/>
          </a:p>
        </p:txBody>
      </p:sp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rPr b="1" lang="en" sz="2600"/>
              <a:t>Objective</a:t>
            </a:r>
            <a:r>
              <a:rPr lang="en" sz="2600"/>
              <a:t>: Refactor your code to handle asynchronous operations using </a:t>
            </a:r>
            <a:r>
              <a:rPr b="1" lang="en" sz="2600"/>
              <a:t>callback functions</a:t>
            </a:r>
            <a:r>
              <a:rPr lang="en" sz="2600"/>
              <a:t>. This could include functions like </a:t>
            </a:r>
            <a:r>
              <a:rPr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setTimeout</a:t>
            </a:r>
            <a:r>
              <a:rPr lang="en" sz="2600"/>
              <a:t>, event listeners, or AJAX calls.</a:t>
            </a:r>
            <a:endParaRPr sz="3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7507475" cy="41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4700" y="3920600"/>
            <a:ext cx="6554700" cy="1129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Task 3 - Implement Promises and Async/Await</a:t>
            </a:r>
            <a:endParaRPr/>
          </a:p>
        </p:txBody>
      </p:sp>
      <p:sp>
        <p:nvSpPr>
          <p:cNvPr id="259" name="Google Shape;259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</a:pPr>
            <a:r>
              <a:rPr b="1" lang="en" sz="2600"/>
              <a:t>Objective</a:t>
            </a:r>
            <a:r>
              <a:rPr lang="en" sz="2600"/>
              <a:t>: Convert callback-based code into </a:t>
            </a:r>
            <a:r>
              <a:rPr b="1" lang="en" sz="2600"/>
              <a:t>Promises</a:t>
            </a:r>
            <a:r>
              <a:rPr lang="en" sz="2600"/>
              <a:t> or </a:t>
            </a:r>
            <a:r>
              <a:rPr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2600"/>
              <a:t> to handle asynchronous operations.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b="1" lang="en" sz="2600"/>
              <a:t>Convert the example from Task 2</a:t>
            </a:r>
            <a:r>
              <a:rPr lang="en" sz="2600"/>
              <a:t> into a Promise: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b="1" lang="en" sz="2600"/>
              <a:t>Convert to </a:t>
            </a:r>
            <a:r>
              <a:rPr b="1"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r>
              <a:rPr lang="en" sz="2600"/>
              <a:t>: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00" y="1882675"/>
            <a:ext cx="8552799" cy="31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/>
        </p:nvSpPr>
        <p:spPr>
          <a:xfrm>
            <a:off x="852050" y="456600"/>
            <a:ext cx="6906300" cy="104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Convert the example from Task 2</a:t>
            </a:r>
            <a:r>
              <a:rPr b="0" i="0" lang="en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into a Promise: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/>
        </p:nvSpPr>
        <p:spPr>
          <a:xfrm>
            <a:off x="805075" y="180250"/>
            <a:ext cx="5922600" cy="492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Convert to </a:t>
            </a:r>
            <a:r>
              <a:rPr b="1" i="0" lang="en" sz="20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async/await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25" y="828400"/>
            <a:ext cx="7248200" cy="41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282" name="Google Shape;2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91" name="Google Shape;291;p35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292" name="Google Shape;292;p35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35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01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35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297" name="Google Shape;297;p35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35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311" name="Google Shape;311;p35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5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 our schedule on Discord “Schedule” Channel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5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5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7" name="Google Shape;327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