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.fntdata"/><Relationship Id="rId21" Type="http://schemas.openxmlformats.org/officeDocument/2006/relationships/slide" Target="slides/slide16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7261447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2d7261447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72680e82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d72680e82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1ad5d4b5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1ad5d4b5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65d5b23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65d5b23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65d5b23b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65d5b23b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1ad5d4b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1ad5d4b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1ad5d4b5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1ad5d4b5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1ad5d4b5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1ad5d4b5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1ad5d4b5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1ad5d4b5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736ea96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736ea96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1ad5d4b5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1ad5d4b5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1ae52f91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1ae52f91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1ae52f9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1ae52f9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1ae52f91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1ae52f91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1ae52f9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1ae52f9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1ae52f91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1ae52f91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1ae52f91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1ae52f91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1ae52f91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1ae52f91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1ae52f91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1ae52f91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1ae52f918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21ae52f918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1ae52f91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1ae52f91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1ae52f91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1ae52f91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1ae52f91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1ae52f91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1ae52f918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21ae52f918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1ae52f918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1ae52f91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1ae52f918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21ae52f918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1ae52f918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1ae52f91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1ae52f91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21ae52f91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1ae52f918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21ae52f918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1ae52f918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1ae52f918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7279020e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d7279020e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77ecf2d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77ecf2d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72614474f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2d72614474f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2d72614474f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  <a:defRPr sz="1500"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  <a:defRPr sz="15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■"/>
              <a:defRPr sz="1500"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  <a:defRPr sz="1500"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  <a:defRPr sz="1500"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■"/>
              <a:defRPr sz="1500"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  <a:defRPr sz="1500"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  <a:defRPr sz="1500"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■"/>
              <a:defRPr sz="15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16750" y="0"/>
            <a:ext cx="1127250" cy="11272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n a blue background&#10;&#10;Description automatically generated" id="75" name="Google Shape;75;p14"/>
          <p:cNvPicPr preferRelativeResize="0"/>
          <p:nvPr/>
        </p:nvPicPr>
        <p:blipFill rotWithShape="1">
          <a:blip r:embed="rId3">
            <a:alphaModFix/>
          </a:blip>
          <a:srcRect b="0" l="0" r="2780" t="0"/>
          <a:stretch/>
        </p:blipFill>
        <p:spPr>
          <a:xfrm>
            <a:off x="3082595" y="8"/>
            <a:ext cx="6061405" cy="514350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0" y="0"/>
            <a:ext cx="3719285" cy="51435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902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0" y="0"/>
            <a:ext cx="3711665" cy="51435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>
            <p:ph type="ctrTitle"/>
          </p:nvPr>
        </p:nvSpPr>
        <p:spPr>
          <a:xfrm>
            <a:off x="285250" y="239900"/>
            <a:ext cx="3171600" cy="27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</a:pPr>
            <a:r>
              <a:rPr b="1" lang="en" sz="379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Introduction to Web Development</a:t>
            </a:r>
            <a:endParaRPr sz="262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/>
          <p:nvPr/>
        </p:nvSpPr>
        <p:spPr>
          <a:xfrm rot="5400000">
            <a:off x="569938" y="260162"/>
            <a:ext cx="109800" cy="52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60772" y="3410190"/>
            <a:ext cx="30174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85250" y="3866650"/>
            <a:ext cx="155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6000" u="none" cap="none" strike="noStrike"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" sz="38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7999" y="3515925"/>
            <a:ext cx="1096474" cy="10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3719275" y="0"/>
            <a:ext cx="54249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 rot="10800000">
            <a:off x="2979225" y="0"/>
            <a:ext cx="2509950" cy="5143500"/>
          </a:xfrm>
          <a:prstGeom prst="flowChartOnlineStorag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0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1990300" y="-109500"/>
            <a:ext cx="47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#1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HTML Elements and Attributes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Introduction to HTML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Overview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Introduction to HTML (Hypertext Markup Language), the foundation of web development.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role of HTML in structuring the content on a webpage.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Real-World Relevance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Every website relies on HTML to present text, images, links, and more.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Key foundational technology alongside CSS and JavaScript.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Show example site and explain how HTML builds the structure.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 for Today’s Lecture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Concepts Covered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HTML Elements and Tags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HTML Attributes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Semantic HTML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Accessibility Best Practices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Common HTML Tags (Headings, Paragraphs, Links, Lists, Images)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HTML?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HTML Definition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HTML is a markup language used to structure content on the web.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Structure of an HTML document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Document Type Declaration (DOCTYPE)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Specifies the HTML version (e.g., HTML5).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HTML Element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The root element of the document.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Head and Body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Where metadata and content reside.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A simple HTML document structure.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75" y="152400"/>
            <a:ext cx="6795000" cy="4849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Elements and Tags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What is an HTML Element?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An HTML element is a building block of HTML. It consists of an opening tag, content, and a closing tag.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Structure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&lt;tagname&gt;content&lt;/tagname&gt;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&lt;h1&gt;Hello World!&lt;/h1&gt;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Visual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Break down the tag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content,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&lt;/h1&gt;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00" y="4197938"/>
            <a:ext cx="2895600" cy="790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Attributes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What are HTML Attributes?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Attributes provide additional information about an element.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They are added o the opening tag and consist of a name and a value.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Common HTML Attributes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Anchor Tag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&lt;a href="https://www.example.com"&gt;Click here&lt;/a&gt;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Image Tag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&lt;img src="image.jpg" alt="A sample image"&gt;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675" y="1747475"/>
            <a:ext cx="636270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HTML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Semantic HTML?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HTML uses elements that convey meaning about the content they contain (rather than just for styling purposes).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it's important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accessibility for screen readers.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SEO (Search Engine Optimization).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the code easier to read and maintain.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Semantic Tags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&lt;header&gt;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&lt;footer&gt;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&lt;article&gt;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&lt;section&gt;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&lt;nav&gt;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275" y="1327350"/>
            <a:ext cx="7910100" cy="291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 Best Practices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Why is Accessibility Important?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Accessibility ensures that all users, including those with disabilities, can navigate and interact with the website.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Best Practices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semantic HTML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to help screen readers interpret the content.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alt text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for images: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&lt;img src="image.jpg" alt="Description of image"&gt;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Ensure good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color contrast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for readability.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headings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&lt;h2&gt;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etc.) in a logical order to provide structure.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Real-World Example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 Show a webpage with and without alt text on images.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HTML Tags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Headings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&lt;h6&gt;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tags for creating headings of different levels.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Paragraphs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tag to define paragraphs of text.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Links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&lt;a href="url"&gt;link text&lt;/a&gt;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to create hyperlinks.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Lists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Unordered (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&lt;ul&gt;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) and ordered (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&lt;ol&gt;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) lists with list items (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&lt;li&gt;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Images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&lt;img src="image.jpg" alt="Description"&gt;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to add images.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00" y="1234825"/>
            <a:ext cx="6961200" cy="345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Points</a:t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Recap</a:t>
            </a:r>
            <a:r>
              <a:rPr lang="en" sz="2300">
                <a:latin typeface="Arial"/>
                <a:ea typeface="Arial"/>
                <a:cs typeface="Arial"/>
                <a:sym typeface="Arial"/>
              </a:rPr>
              <a:t>: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HTML provides the structure for a webpage.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Elements consist of tags, content, and attributes.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Semantic HTML improves accessibility and SEO.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Using best practices ensures better usability and inclusivity.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Lab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the Coding Lab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: Students will apply HTML concepts by creating their own webpage.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Project Goal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: Create a personal webpage with headings, paragraphs, links, and images.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Skills Covered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: HTML structure, use of common tags, semantic HTML, and basic accessibility practices.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Development Environment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Step 1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Install and set up a code editor (e.g., VS Code, Sublime Text).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Step 2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Create a folder called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html_basics_lab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and inside it, create a file named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Step 3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: Open the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file in the code editor and start writing HTML.</a:t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the First Line of Code: Setup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626" y="1764426"/>
            <a:ext cx="7508700" cy="320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Add a heading and a paragraph to the page.</a:t>
            </a:r>
            <a:endParaRPr/>
          </a:p>
        </p:txBody>
      </p:sp>
      <p:pic>
        <p:nvPicPr>
          <p:cNvPr id="219" name="Google Shape;2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2571750"/>
            <a:ext cx="8421300" cy="100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Add an image using the &lt;img&gt; tag.</a:t>
            </a:r>
            <a:endParaRPr/>
          </a:p>
        </p:txBody>
      </p:sp>
      <p:pic>
        <p:nvPicPr>
          <p:cNvPr id="225" name="Google Shape;2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50" y="2187900"/>
            <a:ext cx="8576700" cy="76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Add a link to another website.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471900" y="3922175"/>
            <a:ext cx="82221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Challenge: Make the link open in a new tab using the target="_blank" attribute.</a:t>
            </a:r>
            <a:endParaRPr/>
          </a:p>
        </p:txBody>
      </p:sp>
      <p:pic>
        <p:nvPicPr>
          <p:cNvPr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50" y="2632550"/>
            <a:ext cx="8722500" cy="707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Add an unordered and ordered list.</a:t>
            </a:r>
            <a:endParaRPr/>
          </a:p>
        </p:txBody>
      </p:sp>
      <p:pic>
        <p:nvPicPr>
          <p:cNvPr id="238" name="Google Shape;2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00" y="1650902"/>
            <a:ext cx="8107500" cy="332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and Troubleshooting</a:t>
            </a:r>
            <a:endParaRPr/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Common Issues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Missing closing tags (e.g.,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&lt;/img&gt;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Incorrect file paths for images or links.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HTML structure errors (e.g., forgetting to wrap content in the </a:t>
            </a:r>
            <a:r>
              <a:rPr lang="en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: Use browser developer tools (Inspect) to identify errors.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Walkthrough</a:t>
            </a:r>
            <a:r>
              <a:rPr lang="en" sz="2600">
                <a:latin typeface="Arial"/>
                <a:ea typeface="Arial"/>
                <a:cs typeface="Arial"/>
                <a:sym typeface="Arial"/>
              </a:rPr>
              <a:t>: Review the code written so far. Ensure all elements are properly structured.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Best Practices</a:t>
            </a:r>
            <a:r>
              <a:rPr lang="en" sz="2600">
                <a:latin typeface="Arial"/>
                <a:ea typeface="Arial"/>
                <a:cs typeface="Arial"/>
                <a:sym typeface="Arial"/>
              </a:rPr>
              <a:t>: Emphasize clear, readable code and the use of semantic tags.</a:t>
            </a:r>
            <a:endParaRPr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Finalizing the Project</a:t>
            </a:r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: Finalize the webpage with added elements like multiple paragraphs, a list, and at least one image.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Test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: Preview the HTML file in a browser.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Challenge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: Add a footer with your name and contact information.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 Session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https://github.com/CODE-CRUNCH-CLUB/C8-CRUNCH-LABS-WEB-DEV</a:t>
            </a:r>
            <a:endParaRPr/>
          </a:p>
        </p:txBody>
      </p:sp>
      <p:pic>
        <p:nvPicPr>
          <p:cNvPr id="267" name="Google Shape;2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8125" y="2716325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6"/>
          <p:cNvSpPr/>
          <p:nvPr/>
        </p:nvSpPr>
        <p:spPr>
          <a:xfrm>
            <a:off x="0" y="0"/>
            <a:ext cx="36681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6"/>
          <p:cNvSpPr txBox="1"/>
          <p:nvPr>
            <p:ph type="title"/>
          </p:nvPr>
        </p:nvSpPr>
        <p:spPr>
          <a:xfrm>
            <a:off x="630113" y="2525831"/>
            <a:ext cx="24003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76" name="Google Shape;276;p46"/>
          <p:cNvGrpSpPr/>
          <p:nvPr/>
        </p:nvGrpSpPr>
        <p:grpSpPr>
          <a:xfrm>
            <a:off x="0" y="152182"/>
            <a:ext cx="1432688" cy="532245"/>
            <a:chOff x="2267504" y="2540250"/>
            <a:chExt cx="1990951" cy="739640"/>
          </a:xfrm>
        </p:grpSpPr>
        <p:sp>
          <p:nvSpPr>
            <p:cNvPr id="277" name="Google Shape;277;p46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6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46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6"/>
          <p:cNvSpPr/>
          <p:nvPr/>
        </p:nvSpPr>
        <p:spPr>
          <a:xfrm>
            <a:off x="304695" y="3564156"/>
            <a:ext cx="273900" cy="273900"/>
          </a:xfrm>
          <a:prstGeom prst="ellipse">
            <a:avLst/>
          </a:prstGeom>
          <a:solidFill>
            <a:schemeClr val="accent6">
              <a:alpha val="29409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46"/>
          <p:cNvGrpSpPr/>
          <p:nvPr/>
        </p:nvGrpSpPr>
        <p:grpSpPr>
          <a:xfrm>
            <a:off x="3082210" y="4154929"/>
            <a:ext cx="731373" cy="731374"/>
            <a:chOff x="5829300" y="3162300"/>
            <a:chExt cx="532256" cy="532257"/>
          </a:xfrm>
        </p:grpSpPr>
        <p:sp>
          <p:nvSpPr>
            <p:cNvPr id="282" name="Google Shape;282;p46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6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6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6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6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6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6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6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6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6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6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6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6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46"/>
          <p:cNvGrpSpPr/>
          <p:nvPr/>
        </p:nvGrpSpPr>
        <p:grpSpPr>
          <a:xfrm>
            <a:off x="4057984" y="366431"/>
            <a:ext cx="4836551" cy="4392555"/>
            <a:chOff x="-73494" y="11035"/>
            <a:chExt cx="6448735" cy="5856740"/>
          </a:xfrm>
        </p:grpSpPr>
        <p:sp>
          <p:nvSpPr>
            <p:cNvPr id="296" name="Google Shape;296;p46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6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6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6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6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6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6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6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lang="en" sz="1200"/>
                <a:t>Check our schedule on Discord “Schedule” Channel</a:t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6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6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6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6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6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6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6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6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850" lIns="97850" spcFirstLastPara="1" rIns="97850" wrap="square" tIns="97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" sz="1400" u="none" cap="none" strike="noStrike"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2" name="Google Shape;312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027" y="3475350"/>
            <a:ext cx="1096474" cy="10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13" y="813394"/>
            <a:ext cx="1628924" cy="162894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6"/>
          <p:cNvSpPr txBox="1"/>
          <p:nvPr/>
        </p:nvSpPr>
        <p:spPr>
          <a:xfrm>
            <a:off x="740500" y="4692925"/>
            <a:ext cx="234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850" y="4612025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